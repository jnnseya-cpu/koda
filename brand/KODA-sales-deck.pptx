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MOBILE-MONEY PAYMENT VERIFICATION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344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600" kern="0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9748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screenshot can be faked.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SMS can’t.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70916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any mobile-money payment against the operator’s own confirmation SMS. No telco contract. No code to paste. A verdict in seconds.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 still ends with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“send me a screenshot.”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66928" y="2697480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953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" y="3059582"/>
            <a:ext cx="318211" cy="3182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91056" y="284378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screenshot proves nothing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591056" y="32004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be edited, reused, or invented in seconds — and the merchant can’t tell.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904488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41605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30" y="4266590"/>
            <a:ext cx="318211" cy="31821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91056" y="40507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Goods leave before money lands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91056" y="440740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against a fake confirmation and the loss is immediate and total.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66928" y="5111496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536752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" y="5473598"/>
            <a:ext cx="318211" cy="31821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91056" y="5257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Reconciliation is manual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591056" y="5614416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payments to orders by hand is slow, error-prone, and doesn’t scale.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0" y="2697480"/>
            <a:ext cx="3840480" cy="3383280"/>
          </a:xfrm>
          <a:prstGeom prst="roundRect">
            <a:avLst>
              <a:gd name="adj" fmla="val 2973"/>
            </a:avLst>
          </a:prstGeom>
          <a:solidFill>
            <a:srgbClr val="081813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046720" y="2926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8046720" y="3246120"/>
            <a:ext cx="2926080" cy="685800"/>
          </a:xfrm>
          <a:prstGeom prst="roundRect">
            <a:avLst>
              <a:gd name="adj" fmla="val 13333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183880" y="32918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“I’ve paid! Here’s the screenshot 📸”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8686800" y="4160520"/>
            <a:ext cx="2651760" cy="685800"/>
          </a:xfrm>
          <a:prstGeom prst="roundRect">
            <a:avLst>
              <a:gd name="adj" fmla="val 13333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823960" y="42062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“…is it real?”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8046720" y="51206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merchant, every day — with no way to know.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STAYS UNSOLVED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“proper” fix takes 6–18 months —</a:t>
            </a:r>
            <a:endParaRPr lang="en-US" sz="3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telco, per country.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51760"/>
            <a:ext cx="6492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550" b="1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conventional route: negotiate B2B API access with every operator.</a:t>
            </a:r>
            <a:endParaRPr lang="en-US" sz="15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5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contracts. Country-by-country. And frequent flat rejection for the SMEs who need it most.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most mobile-money commerce never gets it — and falls back to the screenshot.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452360" y="2651760"/>
            <a:ext cx="4160520" cy="3108960"/>
          </a:xfrm>
          <a:prstGeom prst="roundRect">
            <a:avLst>
              <a:gd name="adj" fmla="val 3235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26680" y="2880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TO GO LIVE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 API deal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26680" y="3566160"/>
            <a:ext cx="3611880" cy="384048"/>
          </a:xfrm>
          <a:prstGeom prst="roundRect">
            <a:avLst>
              <a:gd name="adj" fmla="val 14286"/>
            </a:avLst>
          </a:prstGeom>
          <a:solidFill>
            <a:srgbClr val="5A4A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818120" y="35661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6–18 months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26680" y="452628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8A1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26680" y="45262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50749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integration. No contract. Nothing to install on the telco side.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A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818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10972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5A4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operator already sends a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SMS.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SMS is the API.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89204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3D2E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 reads the SMS the merchant already receives — reference, amount, sender, running balance — and turns it into verifiable, replay-locked truth. No operator integration. Ever.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customer pays exactly the way they paid yesterday.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pays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794760"/>
            <a:ext cx="20832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money to your normal merchant number — nothing new to learn.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9996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600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600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SMS lands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794760"/>
            <a:ext cx="20832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confirmation SMS arrives on the merchant’s own phone, as always.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3300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8904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8904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 reads &amp; matches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794760"/>
            <a:ext cx="20832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parses the SMS, matches the customer’s code, and runs the fraud checks.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66047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22079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2079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in ~3 s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794760"/>
            <a:ext cx="20832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where you work: a webhook, a ✅ in the chat, or a green card in the console.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MEETS EVERY MERCHANT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engine. Five doors.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smartphone checkout to a feature phone with no internet — the customer confirms however they can.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2745029"/>
            <a:ext cx="362102" cy="3621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6384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code in the Verify Console — no code to write.</a:t>
            </a:r>
            <a:endParaRPr lang="en-US" sz="1180" dirty="0"/>
          </a:p>
        </p:txBody>
      </p:sp>
      <p:sp>
        <p:nvSpPr>
          <p:cNvPr id="10" name="Shape 7"/>
          <p:cNvSpPr/>
          <p:nvPr/>
        </p:nvSpPr>
        <p:spPr>
          <a:xfrm>
            <a:off x="2829702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085734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6435" y="2745029"/>
            <a:ext cx="362102" cy="3621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49158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550" dirty="0"/>
          </a:p>
        </p:txBody>
      </p:sp>
      <p:sp>
        <p:nvSpPr>
          <p:cNvPr id="14" name="Text 10"/>
          <p:cNvSpPr txBox="1"/>
          <p:nvPr/>
        </p:nvSpPr>
        <p:spPr>
          <a:xfrm>
            <a:off x="3049158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dropped in the chat is verified in-channel.</a:t>
            </a:r>
            <a:endParaRPr lang="en-US" sz="1180" dirty="0"/>
          </a:p>
        </p:txBody>
      </p:sp>
      <p:sp>
        <p:nvSpPr>
          <p:cNvPr id="15" name="Shape 11"/>
          <p:cNvSpPr/>
          <p:nvPr/>
        </p:nvSpPr>
        <p:spPr>
          <a:xfrm>
            <a:off x="5092476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348508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209" y="2745029"/>
            <a:ext cx="362102" cy="3621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11932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/ drop-in</a:t>
            </a:r>
            <a:endParaRPr lang="en-US" sz="1550" dirty="0"/>
          </a:p>
        </p:txBody>
      </p:sp>
      <p:sp>
        <p:nvSpPr>
          <p:cNvPr id="19" name="Text 14"/>
          <p:cNvSpPr txBox="1"/>
          <p:nvPr/>
        </p:nvSpPr>
        <p:spPr>
          <a:xfrm>
            <a:off x="5311932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endpoints, a widget, and signed webhooks.</a:t>
            </a:r>
            <a:endParaRPr lang="en-US" sz="1180" dirty="0"/>
          </a:p>
        </p:txBody>
      </p:sp>
      <p:sp>
        <p:nvSpPr>
          <p:cNvPr id="20" name="Shape 15"/>
          <p:cNvSpPr/>
          <p:nvPr/>
        </p:nvSpPr>
        <p:spPr>
          <a:xfrm>
            <a:off x="7355251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611283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1984" y="2745029"/>
            <a:ext cx="362102" cy="36210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574707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USSD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7574707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a shortcode — any phone, no internet.</a:t>
            </a:r>
            <a:endParaRPr lang="en-US" sz="1180" dirty="0"/>
          </a:p>
        </p:txBody>
      </p:sp>
      <p:sp>
        <p:nvSpPr>
          <p:cNvPr id="25" name="Shape 19"/>
          <p:cNvSpPr/>
          <p:nvPr/>
        </p:nvSpPr>
        <p:spPr>
          <a:xfrm>
            <a:off x="9618025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874057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758" y="2745029"/>
            <a:ext cx="362102" cy="36210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837481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Inbound SMS</a:t>
            </a:r>
            <a:endParaRPr lang="en-US" sz="1550" dirty="0"/>
          </a:p>
        </p:txBody>
      </p:sp>
      <p:sp>
        <p:nvSpPr>
          <p:cNvPr id="29" name="Text 22"/>
          <p:cNvSpPr txBox="1"/>
          <p:nvPr/>
        </p:nvSpPr>
        <p:spPr>
          <a:xfrm>
            <a:off x="9837481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the code (or forward the SMS) to verify.</a:t>
            </a:r>
            <a:endParaRPr lang="en-US" sz="1180" dirty="0"/>
          </a:p>
        </p:txBody>
      </p:sp>
      <p:sp>
        <p:nvSpPr>
          <p:cNvPr id="30" name="Text 23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ANTI-FRAUD, BY DESIGN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be lied to.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truth is merchant-side and operator-issued — never anything the buyer can type or edit.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420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6517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72768" y="2468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Single-use, forever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572768" y="28529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reference confirms one payment and is locked for life — replays are rejected.</a:t>
            </a:r>
            <a:endParaRPr lang="en-US" sz="1230" dirty="0"/>
          </a:p>
        </p:txBody>
      </p:sp>
      <p:sp>
        <p:nvSpPr>
          <p:cNvPr id="10" name="Shape 7"/>
          <p:cNvSpPr/>
          <p:nvPr/>
        </p:nvSpPr>
        <p:spPr>
          <a:xfrm>
            <a:off x="6144768" y="22860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25420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651760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50608" y="2468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Balance-chain forgery test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150608" y="28529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device streams, the running balances must add up — a forged SMS breaks the chain.</a:t>
            </a:r>
            <a:endParaRPr lang="en-US" sz="1230" dirty="0"/>
          </a:p>
        </p:txBody>
      </p:sp>
      <p:sp>
        <p:nvSpPr>
          <p:cNvPr id="15" name="Shape 11"/>
          <p:cNvSpPr/>
          <p:nvPr/>
        </p:nvSpPr>
        <p:spPr>
          <a:xfrm>
            <a:off x="566928" y="38862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41422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251960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72768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 &amp; currency guards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572768" y="44531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code only clears if the amount, currency and window all line up with the order.</a:t>
            </a:r>
            <a:endParaRPr lang="en-US" sz="1230" dirty="0"/>
          </a:p>
        </p:txBody>
      </p:sp>
      <p:sp>
        <p:nvSpPr>
          <p:cNvPr id="20" name="Shape 15"/>
          <p:cNvSpPr/>
          <p:nvPr/>
        </p:nvSpPr>
        <p:spPr>
          <a:xfrm>
            <a:off x="6144768" y="38862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0800" y="41422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4251960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150608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honest confirmation tiers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150608" y="44531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receipt says how strongly it’s proven — self-reported, device-anchored, or operator cross-confirmed.</a:t>
            </a:r>
            <a:endParaRPr lang="en-US" sz="1230" dirty="0"/>
          </a:p>
        </p:txBody>
      </p:sp>
      <p:sp>
        <p:nvSpPr>
          <p:cNvPr id="25" name="Text 19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BY CONSTRUCTION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is a parsing map — not a pile of telco deals.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235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in the registry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9996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9140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491408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2444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324448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regions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66047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57487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157487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families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11057839" cy="1600200"/>
          </a:xfrm>
          <a:prstGeom prst="roundRect">
            <a:avLst>
              <a:gd name="adj" fmla="val 6286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86968" y="4389120"/>
            <a:ext cx="1041775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hand-tuned LIVE packs today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and climbing — auto-verify, hands-free. Every other operator is </a:t>
            </a:r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template-ready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multilingual generic parser already structures its SMS at a lower trust band until a precise pack ships. Nothing is claimed as fully supported when it isn’t — and no operator API is ever required.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MODEL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until your merchant actually gets paid.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Marché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2834640"/>
            <a:ext cx="156865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mo · forever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46477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537917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92197" y="2834640"/>
            <a:ext cx="156865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2519629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 verifs / mo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26026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7392E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26026" y="2148840"/>
            <a:ext cx="1660093" cy="2148840"/>
          </a:xfrm>
          <a:prstGeom prst="roundRect">
            <a:avLst>
              <a:gd name="adj" fmla="val 6059"/>
            </a:avLst>
          </a:prstGeom>
          <a:ln w="25400">
            <a:solidFill>
              <a:srgbClr val="E8A1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17466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371746" y="2834640"/>
            <a:ext cx="156865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4399178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760 verifs / mo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05576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297016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Plateforme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51296" y="2834640"/>
            <a:ext cx="156865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2700" dirty="0"/>
          </a:p>
        </p:txBody>
      </p:sp>
      <p:sp>
        <p:nvSpPr>
          <p:cNvPr id="20" name="Text 18"/>
          <p:cNvSpPr txBox="1"/>
          <p:nvPr/>
        </p:nvSpPr>
        <p:spPr>
          <a:xfrm>
            <a:off x="6278728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3,800 / mo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85125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176565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30845" y="2834640"/>
            <a:ext cx="156865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$399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8158277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15,200 / mo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964674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0056114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0010394" y="2834640"/>
            <a:ext cx="156865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2700" dirty="0"/>
          </a:p>
        </p:txBody>
      </p:sp>
      <p:sp>
        <p:nvSpPr>
          <p:cNvPr id="28" name="Text 26"/>
          <p:cNvSpPr txBox="1"/>
          <p:nvPr/>
        </p:nvSpPr>
        <p:spPr>
          <a:xfrm>
            <a:off x="10037826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volume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63440"/>
            <a:ext cx="11057839" cy="1097280"/>
          </a:xfrm>
          <a:prstGeom prst="roundRect">
            <a:avLst>
              <a:gd name="adj" fmla="val 9167"/>
            </a:avLst>
          </a:prstGeom>
          <a:solidFill>
            <a:srgbClr val="081813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86968" y="4864608"/>
            <a:ext cx="104177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“Pay only when your merchant gets paid.”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your quota, prepaid ACU — topped up via mobile money and verified by KODA’s own engine — covers overage and AI features. A plan’s included rate always beats pay-as-you-go.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IT’S FOR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truth layer, every kind of seller.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2558720" cy="324612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44144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569464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3291840"/>
            <a:ext cx="210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Merchants &amp; SMEs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3931920"/>
            <a:ext cx="210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Restaurants, retail, transport, lodging — verify before you hand over goods.</a:t>
            </a:r>
            <a:endParaRPr lang="en-US" sz="1230" dirty="0"/>
          </a:p>
        </p:txBody>
      </p:sp>
      <p:sp>
        <p:nvSpPr>
          <p:cNvPr id="9" name="Shape 6"/>
          <p:cNvSpPr/>
          <p:nvPr/>
        </p:nvSpPr>
        <p:spPr>
          <a:xfrm>
            <a:off x="3399968" y="2148840"/>
            <a:ext cx="2558720" cy="324612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56000" y="244144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016" y="2569464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7712" y="3291840"/>
            <a:ext cx="210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Marketplaces &amp; platforms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3637712" y="3931920"/>
            <a:ext cx="210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Sub-merchant API, scoped keys, trust scores — onboard thousands at wholesale.</a:t>
            </a:r>
            <a:endParaRPr lang="en-US" sz="1230" dirty="0"/>
          </a:p>
        </p:txBody>
      </p:sp>
      <p:sp>
        <p:nvSpPr>
          <p:cNvPr id="14" name="Shape 10"/>
          <p:cNvSpPr/>
          <p:nvPr/>
        </p:nvSpPr>
        <p:spPr>
          <a:xfrm>
            <a:off x="6233008" y="2148840"/>
            <a:ext cx="2558720" cy="324612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89040" y="244144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7056" y="2569464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70752" y="3291840"/>
            <a:ext cx="210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Distributors &amp; resellers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6470752" y="3931920"/>
            <a:ext cx="210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 ACU, float-escrow rails and PIN vouchers to resell KODA downstream.</a:t>
            </a:r>
            <a:endParaRPr lang="en-US" sz="1230" dirty="0"/>
          </a:p>
        </p:txBody>
      </p:sp>
      <p:sp>
        <p:nvSpPr>
          <p:cNvPr id="19" name="Shape 14"/>
          <p:cNvSpPr/>
          <p:nvPr/>
        </p:nvSpPr>
        <p:spPr>
          <a:xfrm>
            <a:off x="9066047" y="2148840"/>
            <a:ext cx="2558720" cy="324612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322079" y="244144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0095" y="2569464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03791" y="3291840"/>
            <a:ext cx="210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Utilities, MFIs &amp; Gov</a:t>
            </a:r>
            <a:endParaRPr lang="en-US" sz="1550" dirty="0"/>
          </a:p>
        </p:txBody>
      </p:sp>
      <p:sp>
        <p:nvSpPr>
          <p:cNvPr id="23" name="Text 17"/>
          <p:cNvSpPr txBox="1"/>
          <p:nvPr/>
        </p:nvSpPr>
        <p:spPr>
          <a:xfrm>
            <a:off x="9303791" y="3931920"/>
            <a:ext cx="210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reconciliation and audit-grade decision traces for every verification.</a:t>
            </a:r>
            <a:endParaRPr lang="en-US" sz="1230" dirty="0"/>
          </a:p>
        </p:txBody>
      </p:sp>
      <p:sp>
        <p:nvSpPr>
          <p:cNvPr id="24" name="Text 18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KODA, WHY NOW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430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works today — and it’s honest about what it does.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33172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DC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8181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157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6192" y="2514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now, not someday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1536192" y="2898648"/>
            <a:ext cx="4224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5A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zero-dependency engine already verifying across five doors — not a roadmap.</a:t>
            </a:r>
            <a:endParaRPr lang="en-US" sz="1230" dirty="0"/>
          </a:p>
        </p:txBody>
      </p:sp>
      <p:sp>
        <p:nvSpPr>
          <p:cNvPr id="9" name="Shape 6"/>
          <p:cNvSpPr/>
          <p:nvPr/>
        </p:nvSpPr>
        <p:spPr>
          <a:xfrm>
            <a:off x="6144768" y="233172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DC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82512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8181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7157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14032" y="2514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by construction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7114032" y="2898648"/>
            <a:ext cx="4224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5A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fabricated proof; the coverage numbers come straight from the live registry.</a:t>
            </a:r>
            <a:endParaRPr lang="en-US" sz="1230" dirty="0"/>
          </a:p>
        </p:txBody>
      </p:sp>
      <p:sp>
        <p:nvSpPr>
          <p:cNvPr id="14" name="Shape 10"/>
          <p:cNvSpPr/>
          <p:nvPr/>
        </p:nvSpPr>
        <p:spPr>
          <a:xfrm>
            <a:off x="566928" y="393192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DCC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42062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8181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31596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36192" y="4114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never move money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1536192" y="4498848"/>
            <a:ext cx="4224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5A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 verifies payments and makes you first to know — funds go straight to your wallet.</a:t>
            </a:r>
            <a:endParaRPr lang="en-US" sz="1230" dirty="0"/>
          </a:p>
        </p:txBody>
      </p:sp>
      <p:sp>
        <p:nvSpPr>
          <p:cNvPr id="19" name="Shape 14"/>
          <p:cNvSpPr/>
          <p:nvPr/>
        </p:nvSpPr>
        <p:spPr>
          <a:xfrm>
            <a:off x="6144768" y="393192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DCC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382512" y="42062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81813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31596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4032" y="4114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Africa-wide by design</a:t>
            </a:r>
            <a:endParaRPr lang="en-US" sz="1550" dirty="0"/>
          </a:p>
        </p:txBody>
      </p:sp>
      <p:sp>
        <p:nvSpPr>
          <p:cNvPr id="23" name="Text 17"/>
          <p:cNvSpPr txBox="1"/>
          <p:nvPr/>
        </p:nvSpPr>
        <p:spPr>
          <a:xfrm>
            <a:off x="7114032" y="4498848"/>
            <a:ext cx="4224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5A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DRC-first, and every operator sharing one SMS grammar unlocks its whole map at once.</a:t>
            </a:r>
            <a:endParaRPr lang="en-US" sz="1230" dirty="0"/>
          </a:p>
        </p:txBody>
      </p:sp>
      <p:sp>
        <p:nvSpPr>
          <p:cNvPr id="24" name="Text 18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500" kern="0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514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first payment free.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520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 can be faked. The SMS can’t.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466344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41248" y="4828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508406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kodajnn.com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24528" y="466344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98848" y="4828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WHATSAPP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498848" y="508406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+243 828 139 153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82128" y="466344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156448" y="4828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156448" y="508406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koda@kodajnn.com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 — Groupe Nseya Digital / JNN Global Ltd  ·  Kinshasa, DR Congo  ·  a payment verification service; it never holds, moves or settles funds.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2026-09-08T07:20:11Z</dcterms:created>
  <dcterms:modified xsi:type="dcterms:W3CDTF">2026-09-08T07:20:11Z</dcterms:modified>
</cp:coreProperties>
</file>