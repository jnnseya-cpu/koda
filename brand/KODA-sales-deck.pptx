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8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8686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MOBILE-MONEY PAYMENT VERIFICATION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3444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spc="600" kern="0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69748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screenshot can be faked.</a:t>
            </a:r>
            <a:endParaRPr lang="en-US" sz="5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SMS can’t.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709160"/>
            <a:ext cx="9326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losing money to fake payment screenshots. Verify every mobile-money payment against the operator’s own confirmation SMS — in seconds. Free to start.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2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fake screenshot is money</a:t>
            </a:r>
            <a:endParaRPr lang="en-US" sz="3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of your pocket.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66928" y="2697480"/>
            <a:ext cx="6766560" cy="1051560"/>
          </a:xfrm>
          <a:prstGeom prst="roundRect">
            <a:avLst>
              <a:gd name="adj" fmla="val 9565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95351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030" y="3059582"/>
            <a:ext cx="318211" cy="31821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91056" y="283464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can’t tell what’s real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1591056" y="3191256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screenshot is edited, reused or invented in seconds — and it looks exactly like a genuine one.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904488"/>
            <a:ext cx="6766560" cy="1051560"/>
          </a:xfrm>
          <a:prstGeom prst="roundRect">
            <a:avLst>
              <a:gd name="adj" fmla="val 9565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22960" y="41605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030" y="4266590"/>
            <a:ext cx="318211" cy="31821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91056" y="4041648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goods leave, the money doesn’t</a:t>
            </a:r>
            <a:endParaRPr lang="en-US" sz="1550" dirty="0"/>
          </a:p>
        </p:txBody>
      </p:sp>
      <p:sp>
        <p:nvSpPr>
          <p:cNvPr id="13" name="Text 9"/>
          <p:cNvSpPr txBox="1"/>
          <p:nvPr/>
        </p:nvSpPr>
        <p:spPr>
          <a:xfrm>
            <a:off x="1591056" y="4398264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the order against a fake confirmation and the loss is yours — instantly, and in full.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5111496"/>
            <a:ext cx="6766560" cy="1051560"/>
          </a:xfrm>
          <a:prstGeom prst="roundRect">
            <a:avLst>
              <a:gd name="adj" fmla="val 9565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536752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030" y="5473598"/>
            <a:ext cx="318211" cy="318211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91056" y="5248656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Checking by hand burns your day</a:t>
            </a:r>
            <a:endParaRPr lang="en-US" sz="1550" dirty="0"/>
          </a:p>
        </p:txBody>
      </p:sp>
      <p:sp>
        <p:nvSpPr>
          <p:cNvPr id="18" name="Text 13"/>
          <p:cNvSpPr txBox="1"/>
          <p:nvPr/>
        </p:nvSpPr>
        <p:spPr>
          <a:xfrm>
            <a:off x="1591056" y="5605272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Scrolling SMS and matching payments one by one doesn’t scale past a handful of sales.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7772400" y="2697480"/>
            <a:ext cx="3840480" cy="3383280"/>
          </a:xfrm>
          <a:prstGeom prst="roundRect">
            <a:avLst>
              <a:gd name="adj" fmla="val 2973"/>
            </a:avLst>
          </a:prstGeom>
          <a:solidFill>
            <a:srgbClr val="081813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046720" y="2926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CUSTOMER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8046720" y="3246120"/>
            <a:ext cx="2926080" cy="685800"/>
          </a:xfrm>
          <a:prstGeom prst="roundRect">
            <a:avLst>
              <a:gd name="adj" fmla="val 13333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183880" y="32918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“I’ve paid! Here’s the screenshot 📸”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8686800" y="4160520"/>
            <a:ext cx="2651760" cy="685800"/>
          </a:xfrm>
          <a:prstGeom prst="roundRect">
            <a:avLst>
              <a:gd name="adj" fmla="val 13333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823960" y="42062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i="1" dirty="0">
                <a:solidFill>
                  <a:srgbClr val="F2B9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“…is it real?”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8046720" y="51663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You, every day — with no way to know.</a:t>
            </a:r>
            <a:endParaRPr lang="en-US" sz="1250" dirty="0"/>
          </a:p>
        </p:txBody>
      </p:sp>
      <p:sp>
        <p:nvSpPr>
          <p:cNvPr id="26" name="Text 21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8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YOU’RE STUCK WITH SCREENSHOTS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“real” fix is a telco contract</a:t>
            </a:r>
            <a:endParaRPr lang="en-US" sz="3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you’ll never get.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697480"/>
            <a:ext cx="6492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550" b="1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operator API access means 6–18 months of B2B negotiation — per telco, per country.</a:t>
            </a:r>
            <a:endParaRPr lang="en-US" sz="1550" dirty="0"/>
          </a:p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5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small and mid-size merchants are routinely turned away at the door.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F2B9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millions of sellers are left with the screenshot. Until now.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452360" y="2651760"/>
            <a:ext cx="4160520" cy="3108960"/>
          </a:xfrm>
          <a:prstGeom prst="roundRect">
            <a:avLst>
              <a:gd name="adj" fmla="val 3235"/>
            </a:avLst>
          </a:prstGeom>
          <a:solidFill>
            <a:srgbClr val="0C231C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26680" y="28803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 TO GO LIVE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726680" y="3246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Telco API deal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26680" y="3566160"/>
            <a:ext cx="3611880" cy="384048"/>
          </a:xfrm>
          <a:prstGeom prst="roundRect">
            <a:avLst>
              <a:gd name="adj" fmla="val 14286"/>
            </a:avLst>
          </a:prstGeom>
          <a:solidFill>
            <a:srgbClr val="5A4A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818120" y="356616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6–18 months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26680" y="4206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26680" y="4526280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8A11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26680" y="452628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507492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integration. No contract. Nothing to install on the telco side.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A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818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INSIGHT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737360"/>
            <a:ext cx="10972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5A4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operator already sends a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confirmation SMS.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0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SMS is the API.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89204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3D2E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KODA reads the SMS you already receive — reference, amount, sender, running balance — and turns it into verifiable, replay-locked truth. No operator integration. Ever.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2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customer pays exactly the way they paid yesterday.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2558720" cy="3200400"/>
          </a:xfrm>
          <a:prstGeom prst="roundRect">
            <a:avLst>
              <a:gd name="adj" fmla="val 3931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377440"/>
            <a:ext cx="658368" cy="658368"/>
          </a:xfrm>
          <a:prstGeom prst="ellipse">
            <a:avLst/>
          </a:prstGeom>
          <a:solidFill>
            <a:srgbClr val="E8A11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3774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3200400"/>
            <a:ext cx="2083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pays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840480"/>
            <a:ext cx="208323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money to your normal merchant number — nothing new to learn.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99968" y="2103120"/>
            <a:ext cx="2558720" cy="3200400"/>
          </a:xfrm>
          <a:prstGeom prst="roundRect">
            <a:avLst>
              <a:gd name="adj" fmla="val 3931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6000" y="2377440"/>
            <a:ext cx="658368" cy="658368"/>
          </a:xfrm>
          <a:prstGeom prst="ellipse">
            <a:avLst/>
          </a:prstGeom>
          <a:solidFill>
            <a:srgbClr val="E8A11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56000" y="23774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3637712" y="3200400"/>
            <a:ext cx="2083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 SMS lands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3637712" y="3840480"/>
            <a:ext cx="208323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confirmation SMS arrives on your phone, exactly as it always does.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33008" y="2103120"/>
            <a:ext cx="2558720" cy="3200400"/>
          </a:xfrm>
          <a:prstGeom prst="roundRect">
            <a:avLst>
              <a:gd name="adj" fmla="val 3931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89040" y="2377440"/>
            <a:ext cx="658368" cy="658368"/>
          </a:xfrm>
          <a:prstGeom prst="ellipse">
            <a:avLst/>
          </a:prstGeom>
          <a:solidFill>
            <a:srgbClr val="E8A11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89040" y="23774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470752" y="3200400"/>
            <a:ext cx="2083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 reads &amp; matches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6470752" y="3840480"/>
            <a:ext cx="208323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parses the SMS, matches the customer’s code, and runs the fraud checks.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66047" y="2103120"/>
            <a:ext cx="2558720" cy="3200400"/>
          </a:xfrm>
          <a:prstGeom prst="roundRect">
            <a:avLst>
              <a:gd name="adj" fmla="val 3931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22079" y="2377440"/>
            <a:ext cx="658368" cy="658368"/>
          </a:xfrm>
          <a:prstGeom prst="ellipse">
            <a:avLst/>
          </a:prstGeom>
          <a:solidFill>
            <a:srgbClr val="E8A11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22079" y="23774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3200400"/>
            <a:ext cx="2083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 in ~3 s</a:t>
            </a:r>
            <a:endParaRPr lang="en-US" sz="1650" dirty="0"/>
          </a:p>
        </p:txBody>
      </p:sp>
      <p:sp>
        <p:nvSpPr>
          <p:cNvPr id="23" name="Text 21"/>
          <p:cNvSpPr txBox="1"/>
          <p:nvPr/>
        </p:nvSpPr>
        <p:spPr>
          <a:xfrm>
            <a:off x="9303791" y="3840480"/>
            <a:ext cx="208323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where you work: a webhook, a ✅ in the chat, or a green card in the console.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8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ONLY REQUIREMENT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your operator texts YOU when you’re paid, KODA works.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91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KODA verifies against the confirmation SMS your mobile-money operator already sends to your merchant number. The whole checklist: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423160"/>
            <a:ext cx="3503066" cy="2880360"/>
          </a:xfrm>
          <a:prstGeom prst="roundRect">
            <a:avLst>
              <a:gd name="adj" fmla="val 349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715768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922" y="2847442"/>
            <a:ext cx="395021" cy="39502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41248" y="3566160"/>
            <a:ext cx="295442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accept mobile money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4251960"/>
            <a:ext cx="295442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Money, M-Pesa, Airtel, Afrimoney, MTN, Wave — and 200+ more operators.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44314" y="2423160"/>
            <a:ext cx="3503066" cy="2880360"/>
          </a:xfrm>
          <a:prstGeom prst="roundRect">
            <a:avLst>
              <a:gd name="adj" fmla="val 349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8634" y="2715768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0308" y="2847442"/>
            <a:ext cx="395021" cy="39502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18634" y="3566160"/>
            <a:ext cx="295442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confirmation SMS lands on your phone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618634" y="4251960"/>
            <a:ext cx="295442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your operator sends to your merchant number every time you’re paid.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21701" y="2423160"/>
            <a:ext cx="3503066" cy="2880360"/>
          </a:xfrm>
          <a:prstGeom prst="roundRect">
            <a:avLst>
              <a:gd name="adj" fmla="val 349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96021" y="2715768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7694" y="2847442"/>
            <a:ext cx="395021" cy="395021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96021" y="3566160"/>
            <a:ext cx="295442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That’s it — you’re ready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396021" y="4251960"/>
            <a:ext cx="295442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SIM. No new number. Nothing for your customer to download or install.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2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MEETS EVERY MERCHANT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engine. Five doors.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smartphone checkout to a feature phone with no internet — your customer confirms however they can.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2006742" cy="3017520"/>
          </a:xfrm>
          <a:prstGeom prst="roundRect">
            <a:avLst>
              <a:gd name="adj" fmla="val 501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624328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2745029"/>
            <a:ext cx="362102" cy="3621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86384" y="3383280"/>
            <a:ext cx="15678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786384" y="3813048"/>
            <a:ext cx="156783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8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code in the Verify Console — no code to write.</a:t>
            </a:r>
            <a:endParaRPr lang="en-US" sz="1180" dirty="0"/>
          </a:p>
        </p:txBody>
      </p:sp>
      <p:sp>
        <p:nvSpPr>
          <p:cNvPr id="10" name="Shape 7"/>
          <p:cNvSpPr/>
          <p:nvPr/>
        </p:nvSpPr>
        <p:spPr>
          <a:xfrm>
            <a:off x="2829702" y="2331720"/>
            <a:ext cx="2006742" cy="3017520"/>
          </a:xfrm>
          <a:prstGeom prst="roundRect">
            <a:avLst>
              <a:gd name="adj" fmla="val 501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085734" y="2624328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6435" y="2745029"/>
            <a:ext cx="362102" cy="3621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049158" y="3383280"/>
            <a:ext cx="15678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</a:t>
            </a:r>
            <a:endParaRPr lang="en-US" sz="1550" dirty="0"/>
          </a:p>
        </p:txBody>
      </p:sp>
      <p:sp>
        <p:nvSpPr>
          <p:cNvPr id="14" name="Text 10"/>
          <p:cNvSpPr txBox="1"/>
          <p:nvPr/>
        </p:nvSpPr>
        <p:spPr>
          <a:xfrm>
            <a:off x="3049158" y="3813048"/>
            <a:ext cx="156783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8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 dropped in the chat is verified in-channel.</a:t>
            </a:r>
            <a:endParaRPr lang="en-US" sz="1180" dirty="0"/>
          </a:p>
        </p:txBody>
      </p:sp>
      <p:sp>
        <p:nvSpPr>
          <p:cNvPr id="15" name="Shape 11"/>
          <p:cNvSpPr/>
          <p:nvPr/>
        </p:nvSpPr>
        <p:spPr>
          <a:xfrm>
            <a:off x="5092476" y="2331720"/>
            <a:ext cx="2006742" cy="3017520"/>
          </a:xfrm>
          <a:prstGeom prst="roundRect">
            <a:avLst>
              <a:gd name="adj" fmla="val 501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348508" y="2624328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209" y="2745029"/>
            <a:ext cx="362102" cy="36210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311932" y="3383280"/>
            <a:ext cx="15678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/ drop-in</a:t>
            </a:r>
            <a:endParaRPr lang="en-US" sz="1550" dirty="0"/>
          </a:p>
        </p:txBody>
      </p:sp>
      <p:sp>
        <p:nvSpPr>
          <p:cNvPr id="19" name="Text 14"/>
          <p:cNvSpPr txBox="1"/>
          <p:nvPr/>
        </p:nvSpPr>
        <p:spPr>
          <a:xfrm>
            <a:off x="5311932" y="3813048"/>
            <a:ext cx="156783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8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endpoints, a widget, and signed webhooks.</a:t>
            </a:r>
            <a:endParaRPr lang="en-US" sz="1180" dirty="0"/>
          </a:p>
        </p:txBody>
      </p:sp>
      <p:sp>
        <p:nvSpPr>
          <p:cNvPr id="20" name="Shape 15"/>
          <p:cNvSpPr/>
          <p:nvPr/>
        </p:nvSpPr>
        <p:spPr>
          <a:xfrm>
            <a:off x="7355251" y="2331720"/>
            <a:ext cx="2006742" cy="3017520"/>
          </a:xfrm>
          <a:prstGeom prst="roundRect">
            <a:avLst>
              <a:gd name="adj" fmla="val 501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611283" y="2624328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1984" y="2745029"/>
            <a:ext cx="362102" cy="36210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574707" y="3383280"/>
            <a:ext cx="15678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USSD</a:t>
            </a:r>
            <a:endParaRPr lang="en-US" sz="1550" dirty="0"/>
          </a:p>
        </p:txBody>
      </p:sp>
      <p:sp>
        <p:nvSpPr>
          <p:cNvPr id="24" name="Text 18"/>
          <p:cNvSpPr txBox="1"/>
          <p:nvPr/>
        </p:nvSpPr>
        <p:spPr>
          <a:xfrm>
            <a:off x="7574707" y="3813048"/>
            <a:ext cx="156783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8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 a shortcode — any phone, no internet.</a:t>
            </a:r>
            <a:endParaRPr lang="en-US" sz="1180" dirty="0"/>
          </a:p>
        </p:txBody>
      </p:sp>
      <p:sp>
        <p:nvSpPr>
          <p:cNvPr id="25" name="Shape 19"/>
          <p:cNvSpPr/>
          <p:nvPr/>
        </p:nvSpPr>
        <p:spPr>
          <a:xfrm>
            <a:off x="9618025" y="2331720"/>
            <a:ext cx="2006742" cy="3017520"/>
          </a:xfrm>
          <a:prstGeom prst="roundRect">
            <a:avLst>
              <a:gd name="adj" fmla="val 501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9874057" y="2624328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758" y="2745029"/>
            <a:ext cx="362102" cy="36210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837481" y="3383280"/>
            <a:ext cx="15678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Inbound SMS</a:t>
            </a:r>
            <a:endParaRPr lang="en-US" sz="1550" dirty="0"/>
          </a:p>
        </p:txBody>
      </p:sp>
      <p:sp>
        <p:nvSpPr>
          <p:cNvPr id="29" name="Text 22"/>
          <p:cNvSpPr txBox="1"/>
          <p:nvPr/>
        </p:nvSpPr>
        <p:spPr>
          <a:xfrm>
            <a:off x="9837481" y="3813048"/>
            <a:ext cx="156783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8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the code (or forward the SMS) to verify.</a:t>
            </a:r>
            <a:endParaRPr lang="en-US" sz="1180" dirty="0"/>
          </a:p>
        </p:txBody>
      </p:sp>
      <p:sp>
        <p:nvSpPr>
          <p:cNvPr id="30" name="Text 23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18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ANTI-FRAUD, BY DESIGN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be lied to.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91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truth is merchant-side and operator-issued — never anything the buyer can type or edit.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5349240" cy="1417320"/>
          </a:xfrm>
          <a:prstGeom prst="roundRect">
            <a:avLst>
              <a:gd name="adj" fmla="val 7097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54203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651760"/>
            <a:ext cx="329184" cy="32918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72768" y="24688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Single-use, forever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572768" y="2852928"/>
            <a:ext cx="4224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3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reference confirms one payment and is locked for life — replays are rejected.</a:t>
            </a:r>
            <a:endParaRPr lang="en-US" sz="1230" dirty="0"/>
          </a:p>
        </p:txBody>
      </p:sp>
      <p:sp>
        <p:nvSpPr>
          <p:cNvPr id="10" name="Shape 7"/>
          <p:cNvSpPr/>
          <p:nvPr/>
        </p:nvSpPr>
        <p:spPr>
          <a:xfrm>
            <a:off x="6144768" y="2286000"/>
            <a:ext cx="5349240" cy="1417320"/>
          </a:xfrm>
          <a:prstGeom prst="roundRect">
            <a:avLst>
              <a:gd name="adj" fmla="val 7097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254203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2651760"/>
            <a:ext cx="329184" cy="3291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150608" y="24688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Balance-chain forgery test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150608" y="2852928"/>
            <a:ext cx="4224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3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device streams, the running balances must add up — a forged SMS breaks the chain.</a:t>
            </a:r>
            <a:endParaRPr lang="en-US" sz="1230" dirty="0"/>
          </a:p>
        </p:txBody>
      </p:sp>
      <p:sp>
        <p:nvSpPr>
          <p:cNvPr id="15" name="Shape 11"/>
          <p:cNvSpPr/>
          <p:nvPr/>
        </p:nvSpPr>
        <p:spPr>
          <a:xfrm>
            <a:off x="566928" y="3886200"/>
            <a:ext cx="5349240" cy="1417320"/>
          </a:xfrm>
          <a:prstGeom prst="roundRect">
            <a:avLst>
              <a:gd name="adj" fmla="val 7097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2960" y="414223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4251960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572768" y="40690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Amount &amp; currency guards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572768" y="4453128"/>
            <a:ext cx="4224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3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code only clears if the amount, currency and window all line up with the order.</a:t>
            </a:r>
            <a:endParaRPr lang="en-US" sz="1230" dirty="0"/>
          </a:p>
        </p:txBody>
      </p:sp>
      <p:sp>
        <p:nvSpPr>
          <p:cNvPr id="20" name="Shape 15"/>
          <p:cNvSpPr/>
          <p:nvPr/>
        </p:nvSpPr>
        <p:spPr>
          <a:xfrm>
            <a:off x="6144768" y="3886200"/>
            <a:ext cx="5349240" cy="1417320"/>
          </a:xfrm>
          <a:prstGeom prst="roundRect">
            <a:avLst>
              <a:gd name="adj" fmla="val 7097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00800" y="414223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28" y="4251960"/>
            <a:ext cx="329184" cy="32918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150608" y="40690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honest confirmation tiers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150608" y="4453128"/>
            <a:ext cx="4224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3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receipt says how strongly it’s proven — self-reported, device-anchored, or operator cross-confirmed.</a:t>
            </a:r>
            <a:endParaRPr lang="en-US" sz="1230" dirty="0"/>
          </a:p>
        </p:txBody>
      </p:sp>
      <p:sp>
        <p:nvSpPr>
          <p:cNvPr id="25" name="Text 19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KODA IS — AND ISN’T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verify your payments. We never touch your money.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4DCC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239572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8181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505456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72768" y="24505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 IS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306324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46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payment VERIFICATION service. It reads the operator’s confirmation, fraud-scores and replay-locks it, and tells you in seconds what’s real.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281928" y="214884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4DC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6248" y="239572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AE1C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5976" y="2505456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7768" y="24505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7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 IS NOT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6574536" y="306324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46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bank, wallet, payment processor, aggregator, escrow or money transmitter. It never holds, moves or settles funds.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566928" y="4343400"/>
            <a:ext cx="1105783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0818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money travels directly from customer to you, over the operator’s own network. </a:t>
            </a:r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A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is based on merchant-side operator confirmations — fraud-scored and replay-protected — but does not guarantee against operator-side reversals or constitute proof of settlement. KODA makes you first to know.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6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18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 BY CONSTRUCTION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is a parsing map — not a pile of telco deals.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2558720" cy="1737360"/>
          </a:xfrm>
          <a:prstGeom prst="roundRect">
            <a:avLst>
              <a:gd name="adj" fmla="val 578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58368" y="2377440"/>
            <a:ext cx="237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235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3319272"/>
            <a:ext cx="237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in the registry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99968" y="2148840"/>
            <a:ext cx="2558720" cy="1737360"/>
          </a:xfrm>
          <a:prstGeom prst="roundRect">
            <a:avLst>
              <a:gd name="adj" fmla="val 578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491408" y="2377440"/>
            <a:ext cx="237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491408" y="3319272"/>
            <a:ext cx="237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2148840"/>
            <a:ext cx="2558720" cy="1737360"/>
          </a:xfrm>
          <a:prstGeom prst="roundRect">
            <a:avLst>
              <a:gd name="adj" fmla="val 578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24448" y="2377440"/>
            <a:ext cx="237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324448" y="3319272"/>
            <a:ext cx="237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regions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66047" y="2148840"/>
            <a:ext cx="2558720" cy="1737360"/>
          </a:xfrm>
          <a:prstGeom prst="roundRect">
            <a:avLst>
              <a:gd name="adj" fmla="val 578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157487" y="2377440"/>
            <a:ext cx="237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157487" y="3319272"/>
            <a:ext cx="237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families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160520"/>
            <a:ext cx="11057839" cy="1600200"/>
          </a:xfrm>
          <a:prstGeom prst="roundRect">
            <a:avLst>
              <a:gd name="adj" fmla="val 6286"/>
            </a:avLst>
          </a:prstGeom>
          <a:solidFill>
            <a:srgbClr val="0C231C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86968" y="4389120"/>
            <a:ext cx="10417759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2B9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hand-tuned LIVE packs today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climbing — auto-verify, hands-free. Every other operator is </a:t>
            </a:r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2B9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template-ready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 multilingual generic parser already structures its SMS at a lower trust band until a precise pack ships. Nothing is claimed as fully supported when it isn’t — and no operator API is ever required.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2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MODEL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until your merchant actually gets paid.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1660093" cy="2148840"/>
          </a:xfrm>
          <a:prstGeom prst="roundRect">
            <a:avLst>
              <a:gd name="adj" fmla="val 605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58368" y="2368296"/>
            <a:ext cx="14772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Marché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834640"/>
            <a:ext cx="16052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566160"/>
            <a:ext cx="15137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mo · forever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446477" y="2148840"/>
            <a:ext cx="1660093" cy="2148840"/>
          </a:xfrm>
          <a:prstGeom prst="roundRect">
            <a:avLst>
              <a:gd name="adj" fmla="val 605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537917" y="2368296"/>
            <a:ext cx="14772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Boutique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473909" y="2834640"/>
            <a:ext cx="16052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2519629" y="3566160"/>
            <a:ext cx="15137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 verifs / mo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26026" y="2148840"/>
            <a:ext cx="1660093" cy="2148840"/>
          </a:xfrm>
          <a:prstGeom prst="roundRect">
            <a:avLst>
              <a:gd name="adj" fmla="val 6059"/>
            </a:avLst>
          </a:prstGeom>
          <a:solidFill>
            <a:srgbClr val="17392E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26026" y="2148840"/>
            <a:ext cx="1660093" cy="2148840"/>
          </a:xfrm>
          <a:prstGeom prst="roundRect">
            <a:avLst>
              <a:gd name="adj" fmla="val 6059"/>
            </a:avLst>
          </a:prstGeom>
          <a:ln w="25400">
            <a:solidFill>
              <a:srgbClr val="E8A11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17466" y="2368296"/>
            <a:ext cx="14772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353458" y="2834640"/>
            <a:ext cx="16052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4399178" y="3566160"/>
            <a:ext cx="15137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760 verifs / mo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05576" y="2148840"/>
            <a:ext cx="1660093" cy="2148840"/>
          </a:xfrm>
          <a:prstGeom prst="roundRect">
            <a:avLst>
              <a:gd name="adj" fmla="val 605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297016" y="2368296"/>
            <a:ext cx="14772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Plateforme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33008" y="2834640"/>
            <a:ext cx="16052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</a:t>
            </a:r>
            <a:endParaRPr lang="en-US" sz="2700" dirty="0"/>
          </a:p>
        </p:txBody>
      </p:sp>
      <p:sp>
        <p:nvSpPr>
          <p:cNvPr id="20" name="Text 18"/>
          <p:cNvSpPr txBox="1"/>
          <p:nvPr/>
        </p:nvSpPr>
        <p:spPr>
          <a:xfrm>
            <a:off x="6278728" y="3566160"/>
            <a:ext cx="15137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3,800 / mo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085125" y="2148840"/>
            <a:ext cx="1660093" cy="2148840"/>
          </a:xfrm>
          <a:prstGeom prst="roundRect">
            <a:avLst>
              <a:gd name="adj" fmla="val 605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176565" y="2368296"/>
            <a:ext cx="14772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12557" y="2834640"/>
            <a:ext cx="16052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$399</a:t>
            </a:r>
            <a:endParaRPr lang="en-US" sz="2700" dirty="0"/>
          </a:p>
        </p:txBody>
      </p:sp>
      <p:sp>
        <p:nvSpPr>
          <p:cNvPr id="24" name="Text 22"/>
          <p:cNvSpPr txBox="1"/>
          <p:nvPr/>
        </p:nvSpPr>
        <p:spPr>
          <a:xfrm>
            <a:off x="8158277" y="3566160"/>
            <a:ext cx="15137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15,200 / mo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964674" y="2148840"/>
            <a:ext cx="1660093" cy="2148840"/>
          </a:xfrm>
          <a:prstGeom prst="roundRect">
            <a:avLst>
              <a:gd name="adj" fmla="val 605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10056114" y="2368296"/>
            <a:ext cx="14772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992106" y="2834640"/>
            <a:ext cx="16052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0037826" y="3566160"/>
            <a:ext cx="15137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 volume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663440"/>
            <a:ext cx="11057839" cy="1097280"/>
          </a:xfrm>
          <a:prstGeom prst="roundRect">
            <a:avLst>
              <a:gd name="adj" fmla="val 9167"/>
            </a:avLst>
          </a:prstGeom>
          <a:solidFill>
            <a:srgbClr val="081813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86968" y="4864608"/>
            <a:ext cx="104177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i="1" dirty="0">
                <a:solidFill>
                  <a:srgbClr val="F2B9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“Pay only when your merchant gets paid.”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free forever — 10 verifications a month, no card. Beyond your quota, prepaid ACU (topped up via mobile money, verified by KODA’s own engine) covers overage. A plan’s included rate always beats pay-as-you-go.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18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 IN THE NEXT 10 MINUTES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forever. No card. No contract.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286000"/>
            <a:ext cx="3503066" cy="2651760"/>
          </a:xfrm>
          <a:prstGeom prst="roundRect">
            <a:avLst>
              <a:gd name="adj" fmla="val 3793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578608"/>
            <a:ext cx="658368" cy="658368"/>
          </a:xfrm>
          <a:prstGeom prst="ellipse">
            <a:avLst/>
          </a:prstGeom>
          <a:solidFill>
            <a:srgbClr val="E8A11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578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3383280"/>
            <a:ext cx="29544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up free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3977640"/>
            <a:ext cx="295442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your account in a minute — 10 verifications every month, free for life.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4314" y="2286000"/>
            <a:ext cx="3503066" cy="2651760"/>
          </a:xfrm>
          <a:prstGeom prst="roundRect">
            <a:avLst>
              <a:gd name="adj" fmla="val 3793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8634" y="2578608"/>
            <a:ext cx="658368" cy="658368"/>
          </a:xfrm>
          <a:prstGeom prst="ellipse">
            <a:avLst/>
          </a:prstGeom>
          <a:solidFill>
            <a:srgbClr val="E8A11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18634" y="2578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618634" y="3383280"/>
            <a:ext cx="29544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your mobile-money number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18634" y="3977640"/>
            <a:ext cx="295442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merchant number the operator’s confirmation SMS already lands on.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21701" y="2286000"/>
            <a:ext cx="3503066" cy="2651760"/>
          </a:xfrm>
          <a:prstGeom prst="roundRect">
            <a:avLst>
              <a:gd name="adj" fmla="val 3793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96021" y="2578608"/>
            <a:ext cx="658368" cy="658368"/>
          </a:xfrm>
          <a:prstGeom prst="ellipse">
            <a:avLst/>
          </a:prstGeom>
          <a:solidFill>
            <a:srgbClr val="E8A11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96021" y="2578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8396021" y="3383280"/>
            <a:ext cx="29544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your first payment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396021" y="3977640"/>
            <a:ext cx="295442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customer’s code — a fraud-checked verdict in about three seconds.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5257800"/>
            <a:ext cx="4206240" cy="566928"/>
          </a:xfrm>
          <a:prstGeom prst="roundRect">
            <a:avLst>
              <a:gd name="adj" fmla="val 50000"/>
            </a:avLst>
          </a:prstGeom>
          <a:solidFill>
            <a:srgbClr val="E8A11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525780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free  →  kodajnn.com/app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8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3444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spc="500" kern="0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</a:t>
            </a:r>
            <a:endParaRPr lang="en-US" sz="5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33172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2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your first payment free —</a:t>
            </a:r>
            <a:endParaRPr lang="en-US" sz="4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2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now.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794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2B9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screenshot can be faked. The SMS can’t.  ·  Free forever, no card required.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66928" y="4617720"/>
            <a:ext cx="3383280" cy="914400"/>
          </a:xfrm>
          <a:prstGeom prst="roundRect">
            <a:avLst>
              <a:gd name="adj" fmla="val 11000"/>
            </a:avLst>
          </a:prstGeom>
          <a:solidFill>
            <a:srgbClr val="0C231C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41248" y="47823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50383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kodajnn.com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24528" y="4617720"/>
            <a:ext cx="3383280" cy="914400"/>
          </a:xfrm>
          <a:prstGeom prst="roundRect">
            <a:avLst>
              <a:gd name="adj" fmla="val 11000"/>
            </a:avLst>
          </a:prstGeom>
          <a:solidFill>
            <a:srgbClr val="0C231C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498848" y="47823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WHATSAPP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498848" y="50383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+243 828 139 153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882128" y="4617720"/>
            <a:ext cx="3383280" cy="914400"/>
          </a:xfrm>
          <a:prstGeom prst="roundRect">
            <a:avLst>
              <a:gd name="adj" fmla="val 11000"/>
            </a:avLst>
          </a:prstGeom>
          <a:solidFill>
            <a:srgbClr val="0C231C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156448" y="47823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156448" y="50383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koda@kodajnn.com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 — a payment verification service; it never holds, moves or settles funds. Groupe Nseya Digital / JNN Global Ltd · Kinshasa, DR Congo.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2026-09-08T09:03:02Z</dcterms:created>
  <dcterms:modified xsi:type="dcterms:W3CDTF">2026-09-08T09:03:02Z</dcterms:modified>
</cp:coreProperties>
</file>