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VÉRIFICATION DES PAIEMENTS MOBILE MONEY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344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spc="600" kern="0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974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capture peut être truquée.</a:t>
            </a:r>
            <a:endParaRPr lang="en-US" sz="5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SMS, non.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4709160"/>
            <a:ext cx="9326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Vérifiez n’importe quel paiement mobile money grâce au SMS de confirmation de l’opérateur. Sans contrat télécom. Sans code à coller. Un verdict en quelques secondes.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RD Congo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PROBLÈME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commerce finit encore par</a:t>
            </a:r>
            <a:endParaRPr lang="en-US" sz="3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envoie-moi une capture ».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66928" y="2697480"/>
            <a:ext cx="6766560" cy="1051560"/>
          </a:xfrm>
          <a:prstGeom prst="roundRect">
            <a:avLst>
              <a:gd name="adj" fmla="val 956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953512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030" y="3059582"/>
            <a:ext cx="318211" cy="3182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91056" y="283464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capture ne prouve rien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1591056" y="31912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peut être modifiée, réutilisée ou inventée en quelques secondes — invisible pour le commerçant.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904488"/>
            <a:ext cx="6766560" cy="1051560"/>
          </a:xfrm>
          <a:prstGeom prst="roundRect">
            <a:avLst>
              <a:gd name="adj" fmla="val 956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41605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30" y="4266590"/>
            <a:ext cx="318211" cy="318211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91056" y="4041648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marchandise part avant l’argent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1591056" y="4398264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Livrer contre une fausse confirmation, et la perte est immédiate et totale.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5111496"/>
            <a:ext cx="6766560" cy="1051560"/>
          </a:xfrm>
          <a:prstGeom prst="roundRect">
            <a:avLst>
              <a:gd name="adj" fmla="val 956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5367528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030" y="5473598"/>
            <a:ext cx="318211" cy="318211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91056" y="5248656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rapprochement est manuel</a:t>
            </a:r>
            <a:endParaRPr lang="en-US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1591056" y="560527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Associer paiements et commandes à la main est lent, source d’erreurs, et ne passe pas à l’échelle.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7772400" y="2697480"/>
            <a:ext cx="3840480" cy="3383280"/>
          </a:xfrm>
          <a:prstGeom prst="roundRect">
            <a:avLst>
              <a:gd name="adj" fmla="val 2973"/>
            </a:avLst>
          </a:prstGeom>
          <a:solidFill>
            <a:srgbClr val="081813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046720" y="2926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8046720" y="3246120"/>
            <a:ext cx="2926080" cy="685800"/>
          </a:xfrm>
          <a:prstGeom prst="roundRect">
            <a:avLst>
              <a:gd name="adj" fmla="val 13333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183880" y="32918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J’ai payé ! Voici la capture 📸 »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686800" y="4160520"/>
            <a:ext cx="2651760" cy="685800"/>
          </a:xfrm>
          <a:prstGeom prst="roundRect">
            <a:avLst>
              <a:gd name="adj" fmla="val 13333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823960" y="42062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…est-ce vrai ? »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8046720" y="51206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commerçant, chaque jour — sans aucun moyen de savoir.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RD Congo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POURQUOI ÇA RESTE NON RÉSOLU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« vraie » solution prend 6 à 18 mois —</a:t>
            </a:r>
            <a:endParaRPr lang="en-US" sz="3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opérateur, par pays.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51760"/>
            <a:ext cx="6492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voie classique : négocier un accès API B2B avec chaque opérateur.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15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Contrats longs. Pays par pays. Et un refus catégorique fréquent pour les PME qui en ont le plus besoin.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Alors la plupart du commerce mobile money n’y accède jamais — et revient à la capture d’écran.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452360" y="2651760"/>
            <a:ext cx="4160520" cy="3108960"/>
          </a:xfrm>
          <a:prstGeom prst="roundRect">
            <a:avLst>
              <a:gd name="adj" fmla="val 3235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26680" y="28803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DÉLAI DE MISE EN SERVICE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72668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 API télécom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26680" y="3566160"/>
            <a:ext cx="3611880" cy="384048"/>
          </a:xfrm>
          <a:prstGeom prst="roundRect">
            <a:avLst>
              <a:gd name="adj" fmla="val 14286"/>
            </a:avLst>
          </a:prstGeom>
          <a:solidFill>
            <a:srgbClr val="5A4A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818120" y="35661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à 18 mois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26680" y="4206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26680" y="452628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E8A11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26680" y="452628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26680" y="50749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intégration. Aucun contrat. Rien à installer côté télécom.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RD Congo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A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0818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L’IDÉE CLÉ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73736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5A4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L’opérateur envoie déjà un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de confirmation.</a:t>
            </a:r>
            <a:endParaRPr lang="en-US" sz="3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8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SMS, c’est l’API.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489204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50" dirty="0">
                <a:solidFill>
                  <a:srgbClr val="3D2E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KODA lit le SMS que le commerçant reçoit déjà — référence, montant, expéditeur, solde — et le transforme en une vérité vérifiable, verrouillée contre le rejeu. Aucune intégration opérateur. Jamais.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COMMENT ÇA MARCHE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client paie exactement comme hier.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3200400"/>
            <a:ext cx="2083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client paie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886200"/>
            <a:ext cx="2083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mobile money vers votre numéro marchand habituel — rien de nouveau à apprendre.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99968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6000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6000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3200400"/>
            <a:ext cx="2083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SMS opérateur arrive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886200"/>
            <a:ext cx="2083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SMS de confirmation arrive sur le téléphone du commerçant, comme toujours.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33008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89040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89040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3200400"/>
            <a:ext cx="2083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 lit et rapproche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886200"/>
            <a:ext cx="2083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analyse le SMS, rapproche le code du client et passe les contrôles anti-fraude.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66047" y="2103120"/>
            <a:ext cx="2558720" cy="320040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22079" y="2377440"/>
            <a:ext cx="658368" cy="658368"/>
          </a:xfrm>
          <a:prstGeom prst="ellipse">
            <a:avLst/>
          </a:prstGeom>
          <a:solidFill>
            <a:srgbClr val="E8A11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2079" y="23774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3200400"/>
            <a:ext cx="2083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en ~3 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886200"/>
            <a:ext cx="20832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Livré là où vous travaillez : un webhook, un ✅ dans le chat, ou une carte verte dans la console.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RD Congo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S’ADAPTE À CHAQUE COMMERÇANT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moteur. Cinq portes.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727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paiement sur smartphone au téléphone simple sans internet — le client confirme comme il peut.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2745029"/>
            <a:ext cx="362102" cy="3621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86384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Manuel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3813048"/>
            <a:ext cx="156783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Collez le code dans la Console — aucun code à écrire.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829702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085734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6435" y="2745029"/>
            <a:ext cx="362102" cy="3621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49158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049158" y="3813048"/>
            <a:ext cx="156783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code déposé dans le chat est vérifié dans la conversation.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092476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348508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209" y="2745029"/>
            <a:ext cx="362102" cy="36210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11932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/ intégré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5311932" y="3813048"/>
            <a:ext cx="156783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endpoints, un widget et des webhooks signés.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7355251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611283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1984" y="2745029"/>
            <a:ext cx="362102" cy="36210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574707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USSD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574707" y="3813048"/>
            <a:ext cx="156783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Composez un code court — tout téléphone, sans internet.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9618025" y="2331720"/>
            <a:ext cx="2006742" cy="3017520"/>
          </a:xfrm>
          <a:prstGeom prst="roundRect">
            <a:avLst>
              <a:gd name="adj" fmla="val 5012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874057" y="2624328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758" y="2745029"/>
            <a:ext cx="362102" cy="36210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837481" y="3383280"/>
            <a:ext cx="15678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SMS entrant</a:t>
            </a:r>
            <a:endParaRPr lang="en-US" sz="1500" dirty="0"/>
          </a:p>
        </p:txBody>
      </p:sp>
      <p:sp>
        <p:nvSpPr>
          <p:cNvPr id="29" name="Text 22"/>
          <p:cNvSpPr txBox="1"/>
          <p:nvPr/>
        </p:nvSpPr>
        <p:spPr>
          <a:xfrm>
            <a:off x="9837481" y="3813048"/>
            <a:ext cx="156783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Envoyez le code (ou transférez le SMS) pour vérifier.</a:t>
            </a:r>
            <a:endParaRPr lang="en-US" sz="1150" dirty="0"/>
          </a:p>
        </p:txBody>
      </p:sp>
      <p:sp>
        <p:nvSpPr>
          <p:cNvPr id="30" name="Text 23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RD Congo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ANTI-FRAUDE, PAR CONCEPTION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Conçu pour qu’on lui mente.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vérité vient du côté commerçant, émise par l’opérateur — jamais de ce que l’acheteur peut taper ou modifier.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349240" cy="1463040"/>
          </a:xfrm>
          <a:prstGeom prst="roundRect">
            <a:avLst>
              <a:gd name="adj" fmla="val 687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6032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670048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72768" y="24505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usage unique, pour toujours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72768" y="2834640"/>
            <a:ext cx="4224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référence confirme un seul paiement et est verrouillée à vie — les rejeux sont refusés.</a:t>
            </a:r>
            <a:endParaRPr lang="en-US" sz="1180" dirty="0"/>
          </a:p>
        </p:txBody>
      </p:sp>
      <p:sp>
        <p:nvSpPr>
          <p:cNvPr id="10" name="Shape 7"/>
          <p:cNvSpPr/>
          <p:nvPr/>
        </p:nvSpPr>
        <p:spPr>
          <a:xfrm>
            <a:off x="6144768" y="2286000"/>
            <a:ext cx="5349240" cy="1463040"/>
          </a:xfrm>
          <a:prstGeom prst="roundRect">
            <a:avLst>
              <a:gd name="adj" fmla="val 687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256032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67004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150608" y="24505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anti-falsification (chaîne de solde)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150608" y="2834640"/>
            <a:ext cx="4224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flux appareils, les soldes doivent s’enchaîner — un SMS falsifié brise la chaîne.</a:t>
            </a:r>
            <a:endParaRPr lang="en-US" sz="1180" dirty="0"/>
          </a:p>
        </p:txBody>
      </p:sp>
      <p:sp>
        <p:nvSpPr>
          <p:cNvPr id="15" name="Shape 11"/>
          <p:cNvSpPr/>
          <p:nvPr/>
        </p:nvSpPr>
        <p:spPr>
          <a:xfrm>
            <a:off x="566928" y="3913632"/>
            <a:ext cx="5349240" cy="1463040"/>
          </a:xfrm>
          <a:prstGeom prst="roundRect">
            <a:avLst>
              <a:gd name="adj" fmla="val 687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4187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297680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72768" y="40782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Contrôles montant &amp; devise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1572768" y="4462272"/>
            <a:ext cx="4224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code ne passe que si le montant, la devise et la fenêtre correspondent à la commande.</a:t>
            </a:r>
            <a:endParaRPr lang="en-US" sz="1180" dirty="0"/>
          </a:p>
        </p:txBody>
      </p:sp>
      <p:sp>
        <p:nvSpPr>
          <p:cNvPr id="20" name="Shape 15"/>
          <p:cNvSpPr/>
          <p:nvPr/>
        </p:nvSpPr>
        <p:spPr>
          <a:xfrm>
            <a:off x="6144768" y="3913632"/>
            <a:ext cx="5349240" cy="1463040"/>
          </a:xfrm>
          <a:prstGeom prst="roundRect">
            <a:avLst>
              <a:gd name="adj" fmla="val 6875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0800" y="41879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4297680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150608" y="40782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niveaux de confiance honnêtes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150608" y="4462272"/>
            <a:ext cx="4224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18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reçu indique la force de la preuve : auto-déclaré, ancré à l’appareil ou confirmé par l’opérateur.</a:t>
            </a:r>
            <a:endParaRPr lang="en-US" sz="1180" dirty="0"/>
          </a:p>
        </p:txBody>
      </p:sp>
      <p:sp>
        <p:nvSpPr>
          <p:cNvPr id="25" name="Text 19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RD Congo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MONDIAL PAR CONCEPTION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couverture est une carte d’analyse — pas une pile de contrats.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58368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235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319272"/>
            <a:ext cx="241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opérateurs au registre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99968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91408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473120" y="3319272"/>
            <a:ext cx="241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3008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24448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306160" y="3319272"/>
            <a:ext cx="241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régions du monde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66047" y="2148840"/>
            <a:ext cx="2558720" cy="1737360"/>
          </a:xfrm>
          <a:prstGeom prst="roundRect">
            <a:avLst>
              <a:gd name="adj" fmla="val 578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157487" y="2377440"/>
            <a:ext cx="2375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139199" y="3319272"/>
            <a:ext cx="241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familles de modèles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11057839" cy="1600200"/>
          </a:xfrm>
          <a:prstGeom prst="roundRect">
            <a:avLst>
              <a:gd name="adj" fmla="val 6286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86968" y="4370832"/>
            <a:ext cx="10417759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packs LIVE ajustés à la main aujourd’hui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en croissance — vérification automatique, sans intervention. Tout autre opérateur est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prêt à l’emploi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un analyseur générique multilingue structure déjà son SMS à un niveau de confiance moindre jusqu’à la publication d’un pack précis. Rien n’est présenté comme pleinement pris en charge tant que ça ne l’est pas — et aucune API opérateur n’est jamais requise.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RD Congo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2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MODÈLE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Gratuit jusqu’à ce que votre commerçant soit vraiment payé.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12648" y="2368296"/>
            <a:ext cx="15686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Marché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03504" y="2834640"/>
            <a:ext cx="158694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566160"/>
            <a:ext cx="155036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mois · à vie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46477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492197" y="2368296"/>
            <a:ext cx="15686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Boutique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483053" y="2834640"/>
            <a:ext cx="158694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2501341" y="3566160"/>
            <a:ext cx="155036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 vérifs / mois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26026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7392E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26026" y="2148840"/>
            <a:ext cx="1660093" cy="2148840"/>
          </a:xfrm>
          <a:prstGeom prst="roundRect">
            <a:avLst>
              <a:gd name="adj" fmla="val 6059"/>
            </a:avLst>
          </a:prstGeom>
          <a:ln w="25400">
            <a:solidFill>
              <a:srgbClr val="E8A1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71746" y="2368296"/>
            <a:ext cx="15686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362602" y="2834640"/>
            <a:ext cx="158694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4380890" y="3566160"/>
            <a:ext cx="155036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760 vérifs / mois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05576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251296" y="2368296"/>
            <a:ext cx="15686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Plateforme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242152" y="2834640"/>
            <a:ext cx="158694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</a:t>
            </a:r>
            <a:endParaRPr lang="en-US" sz="2700" dirty="0"/>
          </a:p>
        </p:txBody>
      </p:sp>
      <p:sp>
        <p:nvSpPr>
          <p:cNvPr id="20" name="Text 18"/>
          <p:cNvSpPr txBox="1"/>
          <p:nvPr/>
        </p:nvSpPr>
        <p:spPr>
          <a:xfrm>
            <a:off x="6260440" y="3566160"/>
            <a:ext cx="155036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3 800 / mois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85125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130845" y="2368296"/>
            <a:ext cx="15686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121701" y="2834640"/>
            <a:ext cx="158694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$399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8139989" y="3566160"/>
            <a:ext cx="155036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15 200 / mois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964674" y="2148840"/>
            <a:ext cx="1660093" cy="2148840"/>
          </a:xfrm>
          <a:prstGeom prst="roundRect">
            <a:avLst>
              <a:gd name="adj" fmla="val 6059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10010394" y="2368296"/>
            <a:ext cx="15686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Entreprise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10001250" y="2834640"/>
            <a:ext cx="158694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mesure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0019538" y="3566160"/>
            <a:ext cx="155036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engagé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4663440"/>
            <a:ext cx="11057839" cy="1097280"/>
          </a:xfrm>
          <a:prstGeom prst="roundRect">
            <a:avLst>
              <a:gd name="adj" fmla="val 9167"/>
            </a:avLst>
          </a:prstGeom>
          <a:solidFill>
            <a:srgbClr val="081813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86968" y="4846320"/>
            <a:ext cx="104177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i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Payez seulement quand votre commerçant est payé. »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9E4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du quota, les ACU prépayés — rechargés via mobile money et vérifiés par le moteur de KODA — couvrent le dépassement et les fonctions IA. Le tarif inclus d’un forfait bat toujours le paiement à l’usage.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RD Congo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POUR QUI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601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couche de vérité, pour tout type de vendeur.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148840"/>
            <a:ext cx="2558720" cy="324612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441448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569464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3291840"/>
            <a:ext cx="210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Commerçants &amp; PME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3995928"/>
            <a:ext cx="2101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Restauration, commerce, transport, hôtellerie — vérifiez avant de remettre la marchandise.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399968" y="2148840"/>
            <a:ext cx="2558720" cy="324612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56000" y="2441448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4016" y="2569464"/>
            <a:ext cx="384048" cy="384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7712" y="3291840"/>
            <a:ext cx="210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Places de marché &amp; plateformes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3637712" y="3995928"/>
            <a:ext cx="2101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sous-marchand, clés limitées, scores de confiance — intégrez des milliers de marchands en gros.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33008" y="2148840"/>
            <a:ext cx="2558720" cy="324612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89040" y="2441448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7056" y="2569464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70752" y="3291840"/>
            <a:ext cx="210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Distributeurs &amp; revendeurs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6470752" y="3995928"/>
            <a:ext cx="2101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 en gros, rails de dépôt-garantie et bons PIN pour revendre KODA en aval.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9066047" y="2148840"/>
            <a:ext cx="2558720" cy="3246120"/>
          </a:xfrm>
          <a:prstGeom prst="roundRect">
            <a:avLst>
              <a:gd name="adj" fmla="val 3931"/>
            </a:avLst>
          </a:prstGeom>
          <a:solidFill>
            <a:srgbClr val="123027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322079" y="2441448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17392E"/>
          </a:solidFill>
          <a:ln w="12700">
            <a:solidFill>
              <a:srgbClr val="E8A11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0095" y="2569464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303791" y="3291840"/>
            <a:ext cx="210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 publics, IMF &amp; Gouv.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9303791" y="3995928"/>
            <a:ext cx="2101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BA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Rapprochement en masse et traces de décision de qualité audit pour chaque vérification.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</a:t>
            </a:r>
            <a:pPr algn="l" indent="0" marL="0">
              <a:buNone/>
            </a:pPr>
            <a:r>
              <a:rPr lang="en-US" sz="9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Groupe Nseya Digital  ·  Kinshasa, RD Congo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8A1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POURQUOI KODA, POURQUOI MAINTENANT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430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Ça marche aujourd’hui — et c’est honnête sur ce que ça fait.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233172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DCC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6060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8181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7157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6192" y="2496312"/>
            <a:ext cx="4224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Opérationnel maintenant, pas un jour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536192" y="2880360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5A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moteur sans dépendance qui vérifie déjà sur cinq portes — pas une feuille de route.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44768" y="233172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DCC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82512" y="26060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8181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71576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14032" y="2496312"/>
            <a:ext cx="4224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Honnête par conception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7114032" y="2880360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5A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preuve fabriquée ; les chiffres de couverture viennent directement du registre en direct.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93192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DCC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42062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8181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31596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36192" y="4096512"/>
            <a:ext cx="4224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ne déplacez jamais l’argent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1536192" y="4480560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5A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KODA vérifie les paiements et vous informe en premier — les fonds vont droit à votre portefeuille.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44768" y="3931920"/>
            <a:ext cx="5349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DCC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382512" y="42062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081813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31596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4032" y="4096512"/>
            <a:ext cx="4224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18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Pensé pour toute l’Afrique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7114032" y="4480560"/>
            <a:ext cx="42245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5A6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RDC d’abord ; chaque opérateur partageant une même grammaire SMS ouvre toute sa carte d’un coup.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kodajnn.com   ·   Groupe Nseya Digital  ·  Kinshasa, RD Congo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8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3258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500" kern="0" dirty="0">
                <a:solidFill>
                  <a:srgbClr val="E8A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46888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9E4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Vérifiez votre premier paiement gratuitement.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520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2B9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capture peut être truquée. Le SMS, non.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4663440"/>
            <a:ext cx="3383280" cy="914400"/>
          </a:xfrm>
          <a:prstGeom prst="roundRect">
            <a:avLst>
              <a:gd name="adj" fmla="val 11000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41248" y="4828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508406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kodajnn.com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24528" y="4663440"/>
            <a:ext cx="3383280" cy="914400"/>
          </a:xfrm>
          <a:prstGeom prst="roundRect">
            <a:avLst>
              <a:gd name="adj" fmla="val 11000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98848" y="4828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WHATSAPP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498848" y="508406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+243 828 139 153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882128" y="4663440"/>
            <a:ext cx="3383280" cy="914400"/>
          </a:xfrm>
          <a:prstGeom prst="roundRect">
            <a:avLst>
              <a:gd name="adj" fmla="val 11000"/>
            </a:avLst>
          </a:prstGeom>
          <a:solidFill>
            <a:srgbClr val="0C231C"/>
          </a:solidFill>
          <a:ln w="12700">
            <a:solidFill>
              <a:srgbClr val="2A4034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156448" y="4828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E-MAIL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156448" y="508406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koda@kodajnn.com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64008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BA7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KODA — Groupe Nseya Digital / JNN Global Ltd  ·  Kinshasa, RD Congo  ·  un service de vérification des paiements ; il ne détient, ne déplace ni ne règle jamais de fonds.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2026-09-08T07:49:08Z</dcterms:created>
  <dcterms:modified xsi:type="dcterms:W3CDTF">2026-09-08T07:49:08Z</dcterms:modified>
</cp:coreProperties>
</file>