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8686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VÉRIFICATION DES PAIEMENTS MOBILE MONEY</a:t>
            </a:r>
            <a:endParaRPr lang="en-US" sz="1150" dirty="0"/>
          </a:p>
        </p:txBody>
      </p:sp>
      <p:sp>
        <p:nvSpPr>
          <p:cNvPr id="3" name="Text 1"/>
          <p:cNvSpPr txBox="1"/>
          <p:nvPr/>
        </p:nvSpPr>
        <p:spPr>
          <a:xfrm>
            <a:off x="566928" y="1234440"/>
            <a:ext cx="7315200" cy="1371600"/>
          </a:xfrm>
          <a:prstGeom prst="rect">
            <a:avLst/>
          </a:prstGeom>
          <a:noFill/>
          <a:ln/>
        </p:spPr>
        <p:txBody>
          <a:bodyPr wrap="square" lIns="0" tIns="0" rIns="0" bIns="0" rtlCol="0" anchor="ctr"/>
          <a:lstStyle/>
          <a:p>
            <a:pPr indent="0" marL="0">
              <a:buNone/>
            </a:pPr>
            <a:r>
              <a:rPr lang="en-US" sz="9600" b="1" spc="600" kern="0" dirty="0">
                <a:solidFill>
                  <a:srgbClr val="E8A11F"/>
                </a:solidFill>
                <a:latin typeface="Arial" pitchFamily="34" charset="0"/>
                <a:ea typeface="Arial" pitchFamily="34" charset="-122"/>
                <a:cs typeface="Arial" pitchFamily="34" charset="-120"/>
              </a:rPr>
              <a:t>KODA</a:t>
            </a:r>
            <a:endParaRPr lang="en-US" sz="9600" dirty="0"/>
          </a:p>
        </p:txBody>
      </p:sp>
      <p:sp>
        <p:nvSpPr>
          <p:cNvPr id="4" name="Text 2"/>
          <p:cNvSpPr txBox="1"/>
          <p:nvPr/>
        </p:nvSpPr>
        <p:spPr>
          <a:xfrm>
            <a:off x="566928" y="2697480"/>
            <a:ext cx="11064240" cy="1645920"/>
          </a:xfrm>
          <a:prstGeom prst="rect">
            <a:avLst/>
          </a:prstGeom>
          <a:noFill/>
          <a:ln/>
        </p:spPr>
        <p:txBody>
          <a:bodyPr wrap="square" lIns="0" tIns="0" rIns="0" bIns="0" rtlCol="0" anchor="ctr"/>
          <a:lstStyle/>
          <a:p>
            <a:pPr indent="0" marL="0">
              <a:lnSpc>
                <a:spcPct val="100000"/>
              </a:lnSpc>
              <a:buNone/>
            </a:pPr>
            <a:r>
              <a:rPr lang="en-US" sz="5000" b="1" dirty="0">
                <a:solidFill>
                  <a:srgbClr val="E9E4D5"/>
                </a:solidFill>
                <a:latin typeface="Arial" pitchFamily="34" charset="0"/>
                <a:ea typeface="Arial" pitchFamily="34" charset="-122"/>
                <a:cs typeface="Arial" pitchFamily="34" charset="-120"/>
              </a:rPr>
              <a:t>Une capture peut être truquée.</a:t>
            </a:r>
            <a:endParaRPr lang="en-US" sz="5000" dirty="0"/>
          </a:p>
          <a:p>
            <a:pPr indent="0" marL="0">
              <a:lnSpc>
                <a:spcPct val="100000"/>
              </a:lnSpc>
              <a:buNone/>
            </a:pPr>
            <a:r>
              <a:rPr lang="en-US" sz="5000" b="1" dirty="0">
                <a:solidFill>
                  <a:srgbClr val="F2B944"/>
                </a:solidFill>
                <a:latin typeface="Arial" pitchFamily="34" charset="0"/>
                <a:ea typeface="Arial" pitchFamily="34" charset="-122"/>
                <a:cs typeface="Arial" pitchFamily="34" charset="-120"/>
              </a:rPr>
              <a:t>Le SMS, non.</a:t>
            </a:r>
            <a:endParaRPr lang="en-US" sz="5000" dirty="0"/>
          </a:p>
        </p:txBody>
      </p:sp>
      <p:sp>
        <p:nvSpPr>
          <p:cNvPr id="5" name="Text 3"/>
          <p:cNvSpPr txBox="1"/>
          <p:nvPr/>
        </p:nvSpPr>
        <p:spPr>
          <a:xfrm>
            <a:off x="566928" y="4709160"/>
            <a:ext cx="9509760" cy="1005840"/>
          </a:xfrm>
          <a:prstGeom prst="rect">
            <a:avLst/>
          </a:prstGeom>
          <a:noFill/>
          <a:ln/>
        </p:spPr>
        <p:txBody>
          <a:bodyPr wrap="square" lIns="0" tIns="0" rIns="0" bIns="0" rtlCol="0" anchor="ctr"/>
          <a:lstStyle/>
          <a:p>
            <a:pPr indent="0" marL="0">
              <a:lnSpc>
                <a:spcPct val="115000"/>
              </a:lnSpc>
              <a:buNone/>
            </a:pPr>
            <a:r>
              <a:rPr lang="en-US" sz="1650" dirty="0">
                <a:solidFill>
                  <a:srgbClr val="9BA79B"/>
                </a:solidFill>
                <a:latin typeface="Calibri" pitchFamily="34" charset="0"/>
                <a:ea typeface="Calibri" pitchFamily="34" charset="-122"/>
                <a:cs typeface="Calibri" pitchFamily="34" charset="-120"/>
              </a:rPr>
              <a:t>Ne perdez plus d’argent à cause de fausses captures. Vérifiez chaque paiement mobile money grâce au SMS de confirmation de l’opérateur — en quelques secondes. Gratuit pour commencer.</a:t>
            </a:r>
            <a:endParaRPr lang="en-US" sz="1650" dirty="0"/>
          </a:p>
        </p:txBody>
      </p:sp>
      <p:sp>
        <p:nvSpPr>
          <p:cNvPr id="6" name="Text 4"/>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231C"/>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LE PROBLÈME</a:t>
            </a:r>
            <a:endParaRPr lang="en-US" sz="1150" dirty="0"/>
          </a:p>
        </p:txBody>
      </p:sp>
      <p:sp>
        <p:nvSpPr>
          <p:cNvPr id="3" name="Text 1"/>
          <p:cNvSpPr txBox="1"/>
          <p:nvPr/>
        </p:nvSpPr>
        <p:spPr>
          <a:xfrm>
            <a:off x="566928" y="914400"/>
            <a:ext cx="7863840" cy="1554480"/>
          </a:xfrm>
          <a:prstGeom prst="rect">
            <a:avLst/>
          </a:prstGeom>
          <a:noFill/>
          <a:ln/>
        </p:spPr>
        <p:txBody>
          <a:bodyPr wrap="square" lIns="0" tIns="0" rIns="0" bIns="0" rtlCol="0" anchor="ctr"/>
          <a:lstStyle/>
          <a:p>
            <a:pPr indent="0" marL="0">
              <a:lnSpc>
                <a:spcPct val="100000"/>
              </a:lnSpc>
              <a:buNone/>
            </a:pPr>
            <a:r>
              <a:rPr lang="en-US" sz="3300" b="1" dirty="0">
                <a:solidFill>
                  <a:srgbClr val="E9E4D5"/>
                </a:solidFill>
                <a:latin typeface="Arial" pitchFamily="34" charset="0"/>
                <a:ea typeface="Arial" pitchFamily="34" charset="-122"/>
                <a:cs typeface="Arial" pitchFamily="34" charset="-120"/>
              </a:rPr>
              <a:t>Chaque fausse capture, c’est de l’argent</a:t>
            </a:r>
            <a:endParaRPr lang="en-US" sz="3300" dirty="0"/>
          </a:p>
          <a:p>
            <a:pPr indent="0" marL="0">
              <a:lnSpc>
                <a:spcPct val="100000"/>
              </a:lnSpc>
              <a:buNone/>
            </a:pPr>
            <a:r>
              <a:rPr lang="en-US" sz="3300" b="1" dirty="0">
                <a:solidFill>
                  <a:srgbClr val="E9E4D5"/>
                </a:solidFill>
                <a:latin typeface="Arial" pitchFamily="34" charset="0"/>
                <a:ea typeface="Arial" pitchFamily="34" charset="-122"/>
                <a:cs typeface="Arial" pitchFamily="34" charset="-120"/>
              </a:rPr>
              <a:t>en moins dans votre poche.</a:t>
            </a:r>
            <a:endParaRPr lang="en-US" sz="3300" dirty="0"/>
          </a:p>
        </p:txBody>
      </p:sp>
      <p:sp>
        <p:nvSpPr>
          <p:cNvPr id="4" name="Shape 2"/>
          <p:cNvSpPr/>
          <p:nvPr/>
        </p:nvSpPr>
        <p:spPr>
          <a:xfrm>
            <a:off x="566928" y="2697480"/>
            <a:ext cx="6766560" cy="1051560"/>
          </a:xfrm>
          <a:prstGeom prst="roundRect">
            <a:avLst>
              <a:gd name="adj" fmla="val 956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5" name="Shape 3"/>
          <p:cNvSpPr/>
          <p:nvPr/>
        </p:nvSpPr>
        <p:spPr>
          <a:xfrm>
            <a:off x="822960" y="2953512"/>
            <a:ext cx="530352" cy="530352"/>
          </a:xfrm>
          <a:prstGeom prst="roundRect">
            <a:avLst>
              <a:gd name="adj" fmla="val 17241"/>
            </a:avLst>
          </a:prstGeom>
          <a:solidFill>
            <a:srgbClr val="17392E"/>
          </a:solidFill>
          <a:ln w="12700">
            <a:solidFill>
              <a:srgbClr val="E8A11F"/>
            </a:solidFill>
            <a:prstDash val="solid"/>
          </a:ln>
        </p:spPr>
      </p:sp>
      <p:pic>
        <p:nvPicPr>
          <p:cNvPr id="6" name="Image 0" descr="preencoded.png">    </p:cNvPr>
          <p:cNvPicPr>
            <a:picLocks noChangeAspect="1"/>
          </p:cNvPicPr>
          <p:nvPr/>
        </p:nvPicPr>
        <p:blipFill>
          <a:blip r:embed="rId1"/>
          <a:stretch>
            <a:fillRect/>
          </a:stretch>
        </p:blipFill>
        <p:spPr>
          <a:xfrm>
            <a:off x="929030" y="3059582"/>
            <a:ext cx="318211" cy="318211"/>
          </a:xfrm>
          <a:prstGeom prst="rect">
            <a:avLst/>
          </a:prstGeom>
        </p:spPr>
      </p:pic>
      <p:sp>
        <p:nvSpPr>
          <p:cNvPr id="7" name="Text 4"/>
          <p:cNvSpPr txBox="1"/>
          <p:nvPr/>
        </p:nvSpPr>
        <p:spPr>
          <a:xfrm>
            <a:off x="1591056" y="2825496"/>
            <a:ext cx="5532120" cy="365760"/>
          </a:xfrm>
          <a:prstGeom prst="rect">
            <a:avLst/>
          </a:prstGeom>
          <a:noFill/>
          <a:ln/>
        </p:spPr>
        <p:txBody>
          <a:bodyPr wrap="square" lIns="0" tIns="0" rIns="0" bIns="0" rtlCol="0" anchor="ctr"/>
          <a:lstStyle/>
          <a:p>
            <a:pPr indent="0" marL="0">
              <a:buNone/>
            </a:pPr>
            <a:r>
              <a:rPr lang="en-US" sz="1500" b="1" dirty="0">
                <a:solidFill>
                  <a:srgbClr val="E9E4D5"/>
                </a:solidFill>
                <a:latin typeface="Arial" pitchFamily="34" charset="0"/>
                <a:ea typeface="Arial" pitchFamily="34" charset="-122"/>
                <a:cs typeface="Arial" pitchFamily="34" charset="-120"/>
              </a:rPr>
              <a:t>Impossible de savoir si c’est vrai</a:t>
            </a:r>
            <a:endParaRPr lang="en-US" sz="1500" dirty="0"/>
          </a:p>
        </p:txBody>
      </p:sp>
      <p:sp>
        <p:nvSpPr>
          <p:cNvPr id="8" name="Text 5"/>
          <p:cNvSpPr txBox="1"/>
          <p:nvPr/>
        </p:nvSpPr>
        <p:spPr>
          <a:xfrm>
            <a:off x="1591056" y="3172968"/>
            <a:ext cx="5577840" cy="530352"/>
          </a:xfrm>
          <a:prstGeom prst="rect">
            <a:avLst/>
          </a:prstGeom>
          <a:noFill/>
          <a:ln/>
        </p:spPr>
        <p:txBody>
          <a:bodyPr wrap="square" lIns="0" tIns="0" rIns="0" bIns="0" rtlCol="0" anchor="ctr"/>
          <a:lstStyle/>
          <a:p>
            <a:pPr indent="0" marL="0">
              <a:lnSpc>
                <a:spcPct val="103000"/>
              </a:lnSpc>
              <a:buNone/>
            </a:pPr>
            <a:r>
              <a:rPr lang="en-US" sz="1150" dirty="0">
                <a:solidFill>
                  <a:srgbClr val="9BA79B"/>
                </a:solidFill>
                <a:latin typeface="Calibri" pitchFamily="34" charset="0"/>
                <a:ea typeface="Calibri" pitchFamily="34" charset="-122"/>
                <a:cs typeface="Calibri" pitchFamily="34" charset="-120"/>
              </a:rPr>
              <a:t>Une capture est modifiée, réutilisée ou inventée en quelques secondes — et ressemble à s’y méprendre à une vraie.</a:t>
            </a:r>
            <a:endParaRPr lang="en-US" sz="1150" dirty="0"/>
          </a:p>
        </p:txBody>
      </p:sp>
      <p:sp>
        <p:nvSpPr>
          <p:cNvPr id="9" name="Shape 6"/>
          <p:cNvSpPr/>
          <p:nvPr/>
        </p:nvSpPr>
        <p:spPr>
          <a:xfrm>
            <a:off x="566928" y="3904488"/>
            <a:ext cx="6766560" cy="1051560"/>
          </a:xfrm>
          <a:prstGeom prst="roundRect">
            <a:avLst>
              <a:gd name="adj" fmla="val 956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0" name="Shape 7"/>
          <p:cNvSpPr/>
          <p:nvPr/>
        </p:nvSpPr>
        <p:spPr>
          <a:xfrm>
            <a:off x="822960" y="4160520"/>
            <a:ext cx="530352" cy="530352"/>
          </a:xfrm>
          <a:prstGeom prst="roundRect">
            <a:avLst>
              <a:gd name="adj" fmla="val 17241"/>
            </a:avLst>
          </a:prstGeom>
          <a:solidFill>
            <a:srgbClr val="17392E"/>
          </a:solidFill>
          <a:ln w="12700">
            <a:solidFill>
              <a:srgbClr val="E8A11F"/>
            </a:solidFill>
            <a:prstDash val="solid"/>
          </a:ln>
        </p:spPr>
      </p:sp>
      <p:pic>
        <p:nvPicPr>
          <p:cNvPr id="11" name="Image 1" descr="preencoded.png">    </p:cNvPr>
          <p:cNvPicPr>
            <a:picLocks noChangeAspect="1"/>
          </p:cNvPicPr>
          <p:nvPr/>
        </p:nvPicPr>
        <p:blipFill>
          <a:blip r:embed="rId2"/>
          <a:stretch>
            <a:fillRect/>
          </a:stretch>
        </p:blipFill>
        <p:spPr>
          <a:xfrm>
            <a:off x="929030" y="4266590"/>
            <a:ext cx="318211" cy="318211"/>
          </a:xfrm>
          <a:prstGeom prst="rect">
            <a:avLst/>
          </a:prstGeom>
        </p:spPr>
      </p:pic>
      <p:sp>
        <p:nvSpPr>
          <p:cNvPr id="12" name="Text 8"/>
          <p:cNvSpPr txBox="1"/>
          <p:nvPr/>
        </p:nvSpPr>
        <p:spPr>
          <a:xfrm>
            <a:off x="1591056" y="4032504"/>
            <a:ext cx="5532120" cy="365760"/>
          </a:xfrm>
          <a:prstGeom prst="rect">
            <a:avLst/>
          </a:prstGeom>
          <a:noFill/>
          <a:ln/>
        </p:spPr>
        <p:txBody>
          <a:bodyPr wrap="square" lIns="0" tIns="0" rIns="0" bIns="0" rtlCol="0" anchor="ctr"/>
          <a:lstStyle/>
          <a:p>
            <a:pPr indent="0" marL="0">
              <a:buNone/>
            </a:pPr>
            <a:r>
              <a:rPr lang="en-US" sz="1500" b="1" dirty="0">
                <a:solidFill>
                  <a:srgbClr val="E9E4D5"/>
                </a:solidFill>
                <a:latin typeface="Arial" pitchFamily="34" charset="0"/>
                <a:ea typeface="Arial" pitchFamily="34" charset="-122"/>
                <a:cs typeface="Arial" pitchFamily="34" charset="-120"/>
              </a:rPr>
              <a:t>La marchandise part, pas l’argent</a:t>
            </a:r>
            <a:endParaRPr lang="en-US" sz="1500" dirty="0"/>
          </a:p>
        </p:txBody>
      </p:sp>
      <p:sp>
        <p:nvSpPr>
          <p:cNvPr id="13" name="Text 9"/>
          <p:cNvSpPr txBox="1"/>
          <p:nvPr/>
        </p:nvSpPr>
        <p:spPr>
          <a:xfrm>
            <a:off x="1591056" y="4379976"/>
            <a:ext cx="5577840" cy="530352"/>
          </a:xfrm>
          <a:prstGeom prst="rect">
            <a:avLst/>
          </a:prstGeom>
          <a:noFill/>
          <a:ln/>
        </p:spPr>
        <p:txBody>
          <a:bodyPr wrap="square" lIns="0" tIns="0" rIns="0" bIns="0" rtlCol="0" anchor="ctr"/>
          <a:lstStyle/>
          <a:p>
            <a:pPr indent="0" marL="0">
              <a:lnSpc>
                <a:spcPct val="103000"/>
              </a:lnSpc>
              <a:buNone/>
            </a:pPr>
            <a:r>
              <a:rPr lang="en-US" sz="1150" dirty="0">
                <a:solidFill>
                  <a:srgbClr val="9BA79B"/>
                </a:solidFill>
                <a:latin typeface="Calibri" pitchFamily="34" charset="0"/>
                <a:ea typeface="Calibri" pitchFamily="34" charset="-122"/>
                <a:cs typeface="Calibri" pitchFamily="34" charset="-120"/>
              </a:rPr>
              <a:t>Livrez contre une fausse confirmation et la perte est pour vous — immédiate et totale.</a:t>
            </a:r>
            <a:endParaRPr lang="en-US" sz="1150" dirty="0"/>
          </a:p>
        </p:txBody>
      </p:sp>
      <p:sp>
        <p:nvSpPr>
          <p:cNvPr id="14" name="Shape 10"/>
          <p:cNvSpPr/>
          <p:nvPr/>
        </p:nvSpPr>
        <p:spPr>
          <a:xfrm>
            <a:off x="566928" y="5111496"/>
            <a:ext cx="6766560" cy="1051560"/>
          </a:xfrm>
          <a:prstGeom prst="roundRect">
            <a:avLst>
              <a:gd name="adj" fmla="val 956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5" name="Shape 11"/>
          <p:cNvSpPr/>
          <p:nvPr/>
        </p:nvSpPr>
        <p:spPr>
          <a:xfrm>
            <a:off x="822960" y="5367528"/>
            <a:ext cx="530352" cy="530352"/>
          </a:xfrm>
          <a:prstGeom prst="roundRect">
            <a:avLst>
              <a:gd name="adj" fmla="val 17241"/>
            </a:avLst>
          </a:prstGeom>
          <a:solidFill>
            <a:srgbClr val="17392E"/>
          </a:solidFill>
          <a:ln w="12700">
            <a:solidFill>
              <a:srgbClr val="E8A11F"/>
            </a:solidFill>
            <a:prstDash val="solid"/>
          </a:ln>
        </p:spPr>
      </p:sp>
      <p:pic>
        <p:nvPicPr>
          <p:cNvPr id="16" name="Image 2" descr="preencoded.png">    </p:cNvPr>
          <p:cNvPicPr>
            <a:picLocks noChangeAspect="1"/>
          </p:cNvPicPr>
          <p:nvPr/>
        </p:nvPicPr>
        <p:blipFill>
          <a:blip r:embed="rId3"/>
          <a:stretch>
            <a:fillRect/>
          </a:stretch>
        </p:blipFill>
        <p:spPr>
          <a:xfrm>
            <a:off x="929030" y="5473598"/>
            <a:ext cx="318211" cy="318211"/>
          </a:xfrm>
          <a:prstGeom prst="rect">
            <a:avLst/>
          </a:prstGeom>
        </p:spPr>
      </p:pic>
      <p:sp>
        <p:nvSpPr>
          <p:cNvPr id="17" name="Text 12"/>
          <p:cNvSpPr txBox="1"/>
          <p:nvPr/>
        </p:nvSpPr>
        <p:spPr>
          <a:xfrm>
            <a:off x="1591056" y="5239512"/>
            <a:ext cx="5532120" cy="365760"/>
          </a:xfrm>
          <a:prstGeom prst="rect">
            <a:avLst/>
          </a:prstGeom>
          <a:noFill/>
          <a:ln/>
        </p:spPr>
        <p:txBody>
          <a:bodyPr wrap="square" lIns="0" tIns="0" rIns="0" bIns="0" rtlCol="0" anchor="ctr"/>
          <a:lstStyle/>
          <a:p>
            <a:pPr indent="0" marL="0">
              <a:buNone/>
            </a:pPr>
            <a:r>
              <a:rPr lang="en-US" sz="1500" b="1" dirty="0">
                <a:solidFill>
                  <a:srgbClr val="E9E4D5"/>
                </a:solidFill>
                <a:latin typeface="Arial" pitchFamily="34" charset="0"/>
                <a:ea typeface="Arial" pitchFamily="34" charset="-122"/>
                <a:cs typeface="Arial" pitchFamily="34" charset="-120"/>
              </a:rPr>
              <a:t>Vérifier à la main gâche vos journées</a:t>
            </a:r>
            <a:endParaRPr lang="en-US" sz="1500" dirty="0"/>
          </a:p>
        </p:txBody>
      </p:sp>
      <p:sp>
        <p:nvSpPr>
          <p:cNvPr id="18" name="Text 13"/>
          <p:cNvSpPr txBox="1"/>
          <p:nvPr/>
        </p:nvSpPr>
        <p:spPr>
          <a:xfrm>
            <a:off x="1591056" y="5586984"/>
            <a:ext cx="5577840" cy="530352"/>
          </a:xfrm>
          <a:prstGeom prst="rect">
            <a:avLst/>
          </a:prstGeom>
          <a:noFill/>
          <a:ln/>
        </p:spPr>
        <p:txBody>
          <a:bodyPr wrap="square" lIns="0" tIns="0" rIns="0" bIns="0" rtlCol="0" anchor="ctr"/>
          <a:lstStyle/>
          <a:p>
            <a:pPr indent="0" marL="0">
              <a:lnSpc>
                <a:spcPct val="103000"/>
              </a:lnSpc>
              <a:buNone/>
            </a:pPr>
            <a:r>
              <a:rPr lang="en-US" sz="1150" dirty="0">
                <a:solidFill>
                  <a:srgbClr val="9BA79B"/>
                </a:solidFill>
                <a:latin typeface="Calibri" pitchFamily="34" charset="0"/>
                <a:ea typeface="Calibri" pitchFamily="34" charset="-122"/>
                <a:cs typeface="Calibri" pitchFamily="34" charset="-120"/>
              </a:rPr>
              <a:t>Faire défiler les SMS et rapprocher les paiements un par un ne tient pas au-delà de quelques ventes.</a:t>
            </a:r>
            <a:endParaRPr lang="en-US" sz="1150" dirty="0"/>
          </a:p>
        </p:txBody>
      </p:sp>
      <p:sp>
        <p:nvSpPr>
          <p:cNvPr id="19" name="Shape 14"/>
          <p:cNvSpPr/>
          <p:nvPr/>
        </p:nvSpPr>
        <p:spPr>
          <a:xfrm>
            <a:off x="7772400" y="2697480"/>
            <a:ext cx="3840480" cy="3383280"/>
          </a:xfrm>
          <a:prstGeom prst="roundRect">
            <a:avLst>
              <a:gd name="adj" fmla="val 2973"/>
            </a:avLst>
          </a:prstGeom>
          <a:solidFill>
            <a:srgbClr val="081813"/>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0" name="Text 15"/>
          <p:cNvSpPr txBox="1"/>
          <p:nvPr/>
        </p:nvSpPr>
        <p:spPr>
          <a:xfrm>
            <a:off x="8046720" y="2926080"/>
            <a:ext cx="3291840" cy="274320"/>
          </a:xfrm>
          <a:prstGeom prst="rect">
            <a:avLst/>
          </a:prstGeom>
          <a:noFill/>
          <a:ln/>
        </p:spPr>
        <p:txBody>
          <a:bodyPr wrap="square" lIns="0" tIns="0" rIns="0" bIns="0" rtlCol="0" anchor="ctr"/>
          <a:lstStyle/>
          <a:p>
            <a:pPr indent="0" marL="0">
              <a:buNone/>
            </a:pPr>
            <a:r>
              <a:rPr lang="en-US" sz="900" spc="200" kern="0" dirty="0">
                <a:solidFill>
                  <a:srgbClr val="9BA79B"/>
                </a:solidFill>
                <a:latin typeface="Courier New" pitchFamily="34" charset="0"/>
                <a:ea typeface="Courier New" pitchFamily="34" charset="-122"/>
                <a:cs typeface="Courier New" pitchFamily="34" charset="-120"/>
              </a:rPr>
              <a:t>VOTRE CLIENT</a:t>
            </a:r>
            <a:endParaRPr lang="en-US" sz="900" dirty="0"/>
          </a:p>
        </p:txBody>
      </p:sp>
      <p:sp>
        <p:nvSpPr>
          <p:cNvPr id="21" name="Shape 16"/>
          <p:cNvSpPr/>
          <p:nvPr/>
        </p:nvSpPr>
        <p:spPr>
          <a:xfrm>
            <a:off x="8046720" y="3246120"/>
            <a:ext cx="2926080" cy="685800"/>
          </a:xfrm>
          <a:prstGeom prst="roundRect">
            <a:avLst>
              <a:gd name="adj" fmla="val 13333"/>
            </a:avLst>
          </a:prstGeom>
          <a:solidFill>
            <a:srgbClr val="123027"/>
          </a:solidFill>
          <a:ln w="12700">
            <a:solidFill>
              <a:srgbClr val="2A4034"/>
            </a:solidFill>
            <a:prstDash val="solid"/>
          </a:ln>
        </p:spPr>
      </p:sp>
      <p:sp>
        <p:nvSpPr>
          <p:cNvPr id="22" name="Text 17"/>
          <p:cNvSpPr txBox="1"/>
          <p:nvPr/>
        </p:nvSpPr>
        <p:spPr>
          <a:xfrm>
            <a:off x="8183880" y="3291840"/>
            <a:ext cx="2743200" cy="594360"/>
          </a:xfrm>
          <a:prstGeom prst="rect">
            <a:avLst/>
          </a:prstGeom>
          <a:noFill/>
          <a:ln/>
        </p:spPr>
        <p:txBody>
          <a:bodyPr wrap="square" lIns="0" tIns="0" rIns="0" bIns="0" rtlCol="0" anchor="ctr"/>
          <a:lstStyle/>
          <a:p>
            <a:pPr indent="0" marL="0">
              <a:buNone/>
            </a:pPr>
            <a:r>
              <a:rPr lang="en-US" sz="1200" dirty="0">
                <a:solidFill>
                  <a:srgbClr val="E9E4D5"/>
                </a:solidFill>
                <a:latin typeface="Calibri" pitchFamily="34" charset="0"/>
                <a:ea typeface="Calibri" pitchFamily="34" charset="-122"/>
                <a:cs typeface="Calibri" pitchFamily="34" charset="-120"/>
              </a:rPr>
              <a:t>« J’ai payé ! Voici la capture 📸 »</a:t>
            </a:r>
            <a:endParaRPr lang="en-US" sz="1200" dirty="0"/>
          </a:p>
        </p:txBody>
      </p:sp>
      <p:sp>
        <p:nvSpPr>
          <p:cNvPr id="23" name="Shape 18"/>
          <p:cNvSpPr/>
          <p:nvPr/>
        </p:nvSpPr>
        <p:spPr>
          <a:xfrm>
            <a:off x="8686800" y="4160520"/>
            <a:ext cx="2651760" cy="685800"/>
          </a:xfrm>
          <a:prstGeom prst="roundRect">
            <a:avLst>
              <a:gd name="adj" fmla="val 13333"/>
            </a:avLst>
          </a:prstGeom>
          <a:solidFill>
            <a:srgbClr val="17392E"/>
          </a:solidFill>
          <a:ln w="12700">
            <a:solidFill>
              <a:srgbClr val="E8A11F"/>
            </a:solidFill>
            <a:prstDash val="solid"/>
          </a:ln>
        </p:spPr>
      </p:sp>
      <p:sp>
        <p:nvSpPr>
          <p:cNvPr id="24" name="Text 19"/>
          <p:cNvSpPr txBox="1"/>
          <p:nvPr/>
        </p:nvSpPr>
        <p:spPr>
          <a:xfrm>
            <a:off x="8823960" y="4206240"/>
            <a:ext cx="2377440" cy="594360"/>
          </a:xfrm>
          <a:prstGeom prst="rect">
            <a:avLst/>
          </a:prstGeom>
          <a:noFill/>
          <a:ln/>
        </p:spPr>
        <p:txBody>
          <a:bodyPr wrap="square" lIns="0" tIns="0" rIns="0" bIns="0" rtlCol="0" anchor="ctr"/>
          <a:lstStyle/>
          <a:p>
            <a:pPr algn="r" indent="0" marL="0">
              <a:buNone/>
            </a:pPr>
            <a:r>
              <a:rPr lang="en-US" sz="1200" i="1" dirty="0">
                <a:solidFill>
                  <a:srgbClr val="F2B944"/>
                </a:solidFill>
                <a:latin typeface="Calibri" pitchFamily="34" charset="0"/>
                <a:ea typeface="Calibri" pitchFamily="34" charset="-122"/>
                <a:cs typeface="Calibri" pitchFamily="34" charset="-120"/>
              </a:rPr>
              <a:t>« …est-ce vrai ? »</a:t>
            </a:r>
            <a:endParaRPr lang="en-US" sz="1200" dirty="0"/>
          </a:p>
        </p:txBody>
      </p:sp>
      <p:sp>
        <p:nvSpPr>
          <p:cNvPr id="25" name="Text 20"/>
          <p:cNvSpPr txBox="1"/>
          <p:nvPr/>
        </p:nvSpPr>
        <p:spPr>
          <a:xfrm>
            <a:off x="8046720" y="5120640"/>
            <a:ext cx="3291840" cy="731520"/>
          </a:xfrm>
          <a:prstGeom prst="rect">
            <a:avLst/>
          </a:prstGeom>
          <a:noFill/>
          <a:ln/>
        </p:spPr>
        <p:txBody>
          <a:bodyPr wrap="square" lIns="0" tIns="0" rIns="0" bIns="0" rtlCol="0" anchor="ctr"/>
          <a:lstStyle/>
          <a:p>
            <a:pPr indent="0" marL="0">
              <a:buNone/>
            </a:pPr>
            <a:r>
              <a:rPr lang="en-US" sz="1250" dirty="0">
                <a:solidFill>
                  <a:srgbClr val="9BA79B"/>
                </a:solidFill>
                <a:latin typeface="Calibri" pitchFamily="34" charset="0"/>
                <a:ea typeface="Calibri" pitchFamily="34" charset="-122"/>
                <a:cs typeface="Calibri" pitchFamily="34" charset="-120"/>
              </a:rPr>
              <a:t>Vous, chaque jour — sans aucun moyen de savoir.</a:t>
            </a:r>
            <a:endParaRPr lang="en-US" sz="1250" dirty="0"/>
          </a:p>
        </p:txBody>
      </p:sp>
      <p:sp>
        <p:nvSpPr>
          <p:cNvPr id="26" name="Text 21"/>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POURQUOI VOUS EN ÊTES ENCORE À LA CAPTURE</a:t>
            </a:r>
            <a:endParaRPr lang="en-US" sz="1150" dirty="0"/>
          </a:p>
        </p:txBody>
      </p:sp>
      <p:sp>
        <p:nvSpPr>
          <p:cNvPr id="3" name="Text 1"/>
          <p:cNvSpPr txBox="1"/>
          <p:nvPr/>
        </p:nvSpPr>
        <p:spPr>
          <a:xfrm>
            <a:off x="566928" y="960120"/>
            <a:ext cx="10881360" cy="1371600"/>
          </a:xfrm>
          <a:prstGeom prst="rect">
            <a:avLst/>
          </a:prstGeom>
          <a:noFill/>
          <a:ln/>
        </p:spPr>
        <p:txBody>
          <a:bodyPr wrap="square" lIns="0" tIns="0" rIns="0" bIns="0" rtlCol="0" anchor="ctr"/>
          <a:lstStyle/>
          <a:p>
            <a:pPr indent="0" marL="0">
              <a:lnSpc>
                <a:spcPct val="100000"/>
              </a:lnSpc>
              <a:buNone/>
            </a:pPr>
            <a:r>
              <a:rPr lang="en-US" sz="3200" b="1" dirty="0">
                <a:solidFill>
                  <a:srgbClr val="E9E4D5"/>
                </a:solidFill>
                <a:latin typeface="Arial" pitchFamily="34" charset="0"/>
                <a:ea typeface="Arial" pitchFamily="34" charset="-122"/>
                <a:cs typeface="Arial" pitchFamily="34" charset="-120"/>
              </a:rPr>
              <a:t>La « vraie » solution : un contrat télécom</a:t>
            </a:r>
            <a:endParaRPr lang="en-US" sz="3200" dirty="0"/>
          </a:p>
          <a:p>
            <a:pPr indent="0" marL="0">
              <a:lnSpc>
                <a:spcPct val="100000"/>
              </a:lnSpc>
              <a:buNone/>
            </a:pPr>
            <a:r>
              <a:rPr lang="en-US" sz="3200" b="1" dirty="0">
                <a:solidFill>
                  <a:srgbClr val="E9E4D5"/>
                </a:solidFill>
                <a:latin typeface="Arial" pitchFamily="34" charset="0"/>
                <a:ea typeface="Arial" pitchFamily="34" charset="-122"/>
                <a:cs typeface="Arial" pitchFamily="34" charset="-120"/>
              </a:rPr>
              <a:t>que vous n’aurez jamais.</a:t>
            </a:r>
            <a:endParaRPr lang="en-US" sz="3200" dirty="0"/>
          </a:p>
        </p:txBody>
      </p:sp>
      <p:sp>
        <p:nvSpPr>
          <p:cNvPr id="4" name="Text 2"/>
          <p:cNvSpPr txBox="1"/>
          <p:nvPr/>
        </p:nvSpPr>
        <p:spPr>
          <a:xfrm>
            <a:off x="566928" y="2697480"/>
            <a:ext cx="6492240" cy="2194560"/>
          </a:xfrm>
          <a:prstGeom prst="rect">
            <a:avLst/>
          </a:prstGeom>
          <a:noFill/>
          <a:ln/>
        </p:spPr>
        <p:txBody>
          <a:bodyPr wrap="square" lIns="0" tIns="0" rIns="0" bIns="0" rtlCol="0" anchor="ctr"/>
          <a:lstStyle/>
          <a:p>
            <a:pPr indent="0" marL="0">
              <a:lnSpc>
                <a:spcPct val="112000"/>
              </a:lnSpc>
              <a:spcAft>
                <a:spcPts val="800"/>
              </a:spcAft>
              <a:buNone/>
            </a:pPr>
            <a:r>
              <a:rPr lang="en-US" sz="1500" b="1" dirty="0">
                <a:solidFill>
                  <a:srgbClr val="E9E4D5"/>
                </a:solidFill>
                <a:latin typeface="Calibri" pitchFamily="34" charset="0"/>
                <a:ea typeface="Calibri" pitchFamily="34" charset="-122"/>
                <a:cs typeface="Calibri" pitchFamily="34" charset="-120"/>
              </a:rPr>
              <a:t>Un accès direct à l’API opérateur, c’est 6 à 18 mois de négociation B2B — par opérateur, par pays.</a:t>
            </a:r>
            <a:endParaRPr lang="en-US" sz="1500" dirty="0"/>
          </a:p>
          <a:p>
            <a:pPr indent="0" marL="0">
              <a:lnSpc>
                <a:spcPct val="112000"/>
              </a:lnSpc>
              <a:spcAft>
                <a:spcPts val="800"/>
              </a:spcAft>
              <a:buNone/>
            </a:pPr>
            <a:r>
              <a:rPr lang="en-US" sz="1500" dirty="0">
                <a:solidFill>
                  <a:srgbClr val="9BA79B"/>
                </a:solidFill>
                <a:latin typeface="Calibri" pitchFamily="34" charset="0"/>
                <a:ea typeface="Calibri" pitchFamily="34" charset="-122"/>
                <a:cs typeface="Calibri" pitchFamily="34" charset="-120"/>
              </a:rPr>
              <a:t>Et les PME se voient régulièrement refuser l’accès.</a:t>
            </a:r>
            <a:endParaRPr lang="en-US" sz="1500" dirty="0"/>
          </a:p>
          <a:p>
            <a:pPr indent="0" marL="0">
              <a:lnSpc>
                <a:spcPct val="112000"/>
              </a:lnSpc>
              <a:buNone/>
            </a:pPr>
            <a:r>
              <a:rPr lang="en-US" sz="1500" b="1" dirty="0">
                <a:solidFill>
                  <a:srgbClr val="F2B944"/>
                </a:solidFill>
                <a:latin typeface="Calibri" pitchFamily="34" charset="0"/>
                <a:ea typeface="Calibri" pitchFamily="34" charset="-122"/>
                <a:cs typeface="Calibri" pitchFamily="34" charset="-120"/>
              </a:rPr>
              <a:t>Alors des millions de vendeurs en restent à la capture. Jusqu’à maintenant.</a:t>
            </a:r>
            <a:endParaRPr lang="en-US" sz="1500" dirty="0"/>
          </a:p>
        </p:txBody>
      </p:sp>
      <p:sp>
        <p:nvSpPr>
          <p:cNvPr id="5" name="Shape 3"/>
          <p:cNvSpPr/>
          <p:nvPr/>
        </p:nvSpPr>
        <p:spPr>
          <a:xfrm>
            <a:off x="7452360" y="2651760"/>
            <a:ext cx="4160520" cy="3108960"/>
          </a:xfrm>
          <a:prstGeom prst="roundRect">
            <a:avLst>
              <a:gd name="adj" fmla="val 3235"/>
            </a:avLst>
          </a:prstGeom>
          <a:solidFill>
            <a:srgbClr val="0C231C"/>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6" name="Text 4"/>
          <p:cNvSpPr txBox="1"/>
          <p:nvPr/>
        </p:nvSpPr>
        <p:spPr>
          <a:xfrm>
            <a:off x="7726680" y="2880360"/>
            <a:ext cx="3611880" cy="274320"/>
          </a:xfrm>
          <a:prstGeom prst="rect">
            <a:avLst/>
          </a:prstGeom>
          <a:noFill/>
          <a:ln/>
        </p:spPr>
        <p:txBody>
          <a:bodyPr wrap="square" lIns="0" tIns="0" rIns="0" bIns="0" rtlCol="0" anchor="ctr"/>
          <a:lstStyle/>
          <a:p>
            <a:pPr indent="0" marL="0">
              <a:buNone/>
            </a:pPr>
            <a:r>
              <a:rPr lang="en-US" sz="900" spc="150" kern="0" dirty="0">
                <a:solidFill>
                  <a:srgbClr val="9BA79B"/>
                </a:solidFill>
                <a:latin typeface="Courier New" pitchFamily="34" charset="0"/>
                <a:ea typeface="Courier New" pitchFamily="34" charset="-122"/>
                <a:cs typeface="Courier New" pitchFamily="34" charset="-120"/>
              </a:rPr>
              <a:t>DÉLAI DE MISE EN SERVICE</a:t>
            </a:r>
            <a:endParaRPr lang="en-US" sz="900" dirty="0"/>
          </a:p>
        </p:txBody>
      </p:sp>
      <p:sp>
        <p:nvSpPr>
          <p:cNvPr id="7" name="Text 5"/>
          <p:cNvSpPr txBox="1"/>
          <p:nvPr/>
        </p:nvSpPr>
        <p:spPr>
          <a:xfrm>
            <a:off x="7726680" y="3246120"/>
            <a:ext cx="2743200" cy="274320"/>
          </a:xfrm>
          <a:prstGeom prst="rect">
            <a:avLst/>
          </a:prstGeom>
          <a:noFill/>
          <a:ln/>
        </p:spPr>
        <p:txBody>
          <a:bodyPr wrap="square" lIns="0" tIns="0" rIns="0" bIns="0" rtlCol="0" anchor="ctr"/>
          <a:lstStyle/>
          <a:p>
            <a:pPr indent="0" marL="0">
              <a:buNone/>
            </a:pPr>
            <a:r>
              <a:rPr lang="en-US" sz="1250" dirty="0">
                <a:solidFill>
                  <a:srgbClr val="E9E4D5"/>
                </a:solidFill>
                <a:latin typeface="Calibri" pitchFamily="34" charset="0"/>
                <a:ea typeface="Calibri" pitchFamily="34" charset="-122"/>
                <a:cs typeface="Calibri" pitchFamily="34" charset="-120"/>
              </a:rPr>
              <a:t>Accord API télécom</a:t>
            </a:r>
            <a:endParaRPr lang="en-US" sz="1250" dirty="0"/>
          </a:p>
        </p:txBody>
      </p:sp>
      <p:sp>
        <p:nvSpPr>
          <p:cNvPr id="8" name="Shape 6"/>
          <p:cNvSpPr/>
          <p:nvPr/>
        </p:nvSpPr>
        <p:spPr>
          <a:xfrm>
            <a:off x="7726680" y="3566160"/>
            <a:ext cx="3611880" cy="384048"/>
          </a:xfrm>
          <a:prstGeom prst="roundRect">
            <a:avLst>
              <a:gd name="adj" fmla="val 14286"/>
            </a:avLst>
          </a:prstGeom>
          <a:solidFill>
            <a:srgbClr val="5A4A2A"/>
          </a:solidFill>
          <a:ln/>
        </p:spPr>
      </p:sp>
      <p:sp>
        <p:nvSpPr>
          <p:cNvPr id="9" name="Text 7"/>
          <p:cNvSpPr txBox="1"/>
          <p:nvPr/>
        </p:nvSpPr>
        <p:spPr>
          <a:xfrm>
            <a:off x="7818120" y="3566160"/>
            <a:ext cx="2743200" cy="384048"/>
          </a:xfrm>
          <a:prstGeom prst="rect">
            <a:avLst/>
          </a:prstGeom>
          <a:noFill/>
          <a:ln/>
        </p:spPr>
        <p:txBody>
          <a:bodyPr wrap="square" lIns="0" tIns="0" rIns="0" bIns="0" rtlCol="0" anchor="ctr"/>
          <a:lstStyle/>
          <a:p>
            <a:pPr indent="0" marL="0">
              <a:buNone/>
            </a:pPr>
            <a:r>
              <a:rPr lang="en-US" sz="1300" b="1" dirty="0">
                <a:solidFill>
                  <a:srgbClr val="F2B944"/>
                </a:solidFill>
                <a:latin typeface="Arial" pitchFamily="34" charset="0"/>
                <a:ea typeface="Arial" pitchFamily="34" charset="-122"/>
                <a:cs typeface="Arial" pitchFamily="34" charset="-120"/>
              </a:rPr>
              <a:t>6 à 18 mois</a:t>
            </a:r>
            <a:endParaRPr lang="en-US" sz="1300" dirty="0"/>
          </a:p>
        </p:txBody>
      </p:sp>
      <p:sp>
        <p:nvSpPr>
          <p:cNvPr id="10" name="Text 8"/>
          <p:cNvSpPr txBox="1"/>
          <p:nvPr/>
        </p:nvSpPr>
        <p:spPr>
          <a:xfrm>
            <a:off x="7726680" y="4206240"/>
            <a:ext cx="2743200" cy="274320"/>
          </a:xfrm>
          <a:prstGeom prst="rect">
            <a:avLst/>
          </a:prstGeom>
          <a:noFill/>
          <a:ln/>
        </p:spPr>
        <p:txBody>
          <a:bodyPr wrap="square" lIns="0" tIns="0" rIns="0" bIns="0" rtlCol="0" anchor="ctr"/>
          <a:lstStyle/>
          <a:p>
            <a:pPr indent="0" marL="0">
              <a:buNone/>
            </a:pPr>
            <a:r>
              <a:rPr lang="en-US" sz="1250" dirty="0">
                <a:solidFill>
                  <a:srgbClr val="E9E4D5"/>
                </a:solidFill>
                <a:latin typeface="Calibri" pitchFamily="34" charset="0"/>
                <a:ea typeface="Calibri" pitchFamily="34" charset="-122"/>
                <a:cs typeface="Calibri" pitchFamily="34" charset="-120"/>
              </a:rPr>
              <a:t>KODA</a:t>
            </a:r>
            <a:endParaRPr lang="en-US" sz="1250" dirty="0"/>
          </a:p>
        </p:txBody>
      </p:sp>
      <p:sp>
        <p:nvSpPr>
          <p:cNvPr id="11" name="Shape 9"/>
          <p:cNvSpPr/>
          <p:nvPr/>
        </p:nvSpPr>
        <p:spPr>
          <a:xfrm>
            <a:off x="7726680" y="4526280"/>
            <a:ext cx="1051560" cy="384048"/>
          </a:xfrm>
          <a:prstGeom prst="roundRect">
            <a:avLst>
              <a:gd name="adj" fmla="val 14286"/>
            </a:avLst>
          </a:prstGeom>
          <a:solidFill>
            <a:srgbClr val="E8A11F"/>
          </a:solidFill>
          <a:ln/>
        </p:spPr>
      </p:sp>
      <p:sp>
        <p:nvSpPr>
          <p:cNvPr id="12" name="Text 10"/>
          <p:cNvSpPr txBox="1"/>
          <p:nvPr/>
        </p:nvSpPr>
        <p:spPr>
          <a:xfrm>
            <a:off x="7726680" y="4526280"/>
            <a:ext cx="1051560" cy="384048"/>
          </a:xfrm>
          <a:prstGeom prst="rect">
            <a:avLst/>
          </a:prstGeom>
          <a:noFill/>
          <a:ln/>
        </p:spPr>
        <p:txBody>
          <a:bodyPr wrap="square" lIns="0" tIns="0" rIns="0" bIns="0" rtlCol="0" anchor="ctr"/>
          <a:lstStyle/>
          <a:p>
            <a:pPr algn="ctr" indent="0" marL="0">
              <a:buNone/>
            </a:pPr>
            <a:r>
              <a:rPr lang="en-US" sz="1200" b="1" dirty="0">
                <a:solidFill>
                  <a:srgbClr val="081813"/>
                </a:solidFill>
                <a:latin typeface="Arial" pitchFamily="34" charset="0"/>
                <a:ea typeface="Arial" pitchFamily="34" charset="-122"/>
                <a:cs typeface="Arial" pitchFamily="34" charset="-120"/>
              </a:rPr>
              <a:t>minutes</a:t>
            </a:r>
            <a:endParaRPr lang="en-US" sz="1200" dirty="0"/>
          </a:p>
        </p:txBody>
      </p:sp>
      <p:sp>
        <p:nvSpPr>
          <p:cNvPr id="13" name="Text 11"/>
          <p:cNvSpPr txBox="1"/>
          <p:nvPr/>
        </p:nvSpPr>
        <p:spPr>
          <a:xfrm>
            <a:off x="7726680" y="5074920"/>
            <a:ext cx="3611880" cy="548640"/>
          </a:xfrm>
          <a:prstGeom prst="rect">
            <a:avLst/>
          </a:prstGeom>
          <a:noFill/>
          <a:ln/>
        </p:spPr>
        <p:txBody>
          <a:bodyPr wrap="square" lIns="0" tIns="0" rIns="0" bIns="0" rtlCol="0" anchor="ctr"/>
          <a:lstStyle/>
          <a:p>
            <a:pPr indent="0" marL="0">
              <a:buNone/>
            </a:pPr>
            <a:r>
              <a:rPr lang="en-US" sz="1200" i="1" dirty="0">
                <a:solidFill>
                  <a:srgbClr val="9BA79B"/>
                </a:solidFill>
                <a:latin typeface="Calibri" pitchFamily="34" charset="0"/>
                <a:ea typeface="Calibri" pitchFamily="34" charset="-122"/>
                <a:cs typeface="Calibri" pitchFamily="34" charset="-120"/>
              </a:rPr>
              <a:t>Aucune intégration. Aucun contrat. Rien à installer côté télécom.</a:t>
            </a:r>
            <a:endParaRPr lang="en-US" sz="1200" dirty="0"/>
          </a:p>
        </p:txBody>
      </p:sp>
      <p:sp>
        <p:nvSpPr>
          <p:cNvPr id="14" name="Text 12"/>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A11F"/>
        </a:solidFill>
      </p:bgPr>
    </p:bg>
    <p:spTree>
      <p:nvGrpSpPr>
        <p:cNvPr id="1" name=""/>
        <p:cNvGrpSpPr/>
        <p:nvPr/>
      </p:nvGrpSpPr>
      <p:grpSpPr>
        <a:xfrm>
          <a:off x="0" y="0"/>
          <a:ext cx="0" cy="0"/>
          <a:chOff x="0" y="0"/>
          <a:chExt cx="0" cy="0"/>
        </a:xfrm>
      </p:grpSpPr>
      <p:sp>
        <p:nvSpPr>
          <p:cNvPr id="2" name="Text 0"/>
          <p:cNvSpPr txBox="1"/>
          <p:nvPr/>
        </p:nvSpPr>
        <p:spPr>
          <a:xfrm>
            <a:off x="566928" y="1051560"/>
            <a:ext cx="10058400" cy="274320"/>
          </a:xfrm>
          <a:prstGeom prst="rect">
            <a:avLst/>
          </a:prstGeom>
          <a:noFill/>
          <a:ln/>
        </p:spPr>
        <p:txBody>
          <a:bodyPr wrap="square" lIns="0" tIns="0" rIns="0" bIns="0" rtlCol="0" anchor="ctr"/>
          <a:lstStyle/>
          <a:p>
            <a:pPr algn="l" indent="0" marL="0">
              <a:buNone/>
            </a:pPr>
            <a:r>
              <a:rPr lang="en-US" sz="1150" b="1" spc="250" kern="0" dirty="0">
                <a:solidFill>
                  <a:srgbClr val="081813"/>
                </a:solidFill>
                <a:latin typeface="Courier New" pitchFamily="34" charset="0"/>
                <a:ea typeface="Courier New" pitchFamily="34" charset="-122"/>
                <a:cs typeface="Courier New" pitchFamily="34" charset="-120"/>
              </a:rPr>
              <a:t>L’IDÉE CLÉ</a:t>
            </a:r>
            <a:endParaRPr lang="en-US" sz="1150" dirty="0"/>
          </a:p>
        </p:txBody>
      </p:sp>
      <p:sp>
        <p:nvSpPr>
          <p:cNvPr id="3" name="Text 1"/>
          <p:cNvSpPr txBox="1"/>
          <p:nvPr/>
        </p:nvSpPr>
        <p:spPr>
          <a:xfrm>
            <a:off x="566928" y="1737360"/>
            <a:ext cx="11064240" cy="2743200"/>
          </a:xfrm>
          <a:prstGeom prst="rect">
            <a:avLst/>
          </a:prstGeom>
          <a:noFill/>
          <a:ln/>
        </p:spPr>
        <p:txBody>
          <a:bodyPr wrap="square" lIns="0" tIns="0" rIns="0" bIns="0" rtlCol="0" anchor="ctr"/>
          <a:lstStyle/>
          <a:p>
            <a:pPr indent="0" marL="0">
              <a:lnSpc>
                <a:spcPct val="105000"/>
              </a:lnSpc>
              <a:buNone/>
            </a:pPr>
            <a:r>
              <a:rPr lang="en-US" sz="3000" b="1" dirty="0">
                <a:solidFill>
                  <a:srgbClr val="5A4410"/>
                </a:solidFill>
                <a:latin typeface="Arial" pitchFamily="34" charset="0"/>
                <a:ea typeface="Arial" pitchFamily="34" charset="-122"/>
                <a:cs typeface="Arial" pitchFamily="34" charset="-120"/>
              </a:rPr>
              <a:t>L’opérateur envoie déjà un</a:t>
            </a:r>
            <a:endParaRPr lang="en-US" sz="3000" dirty="0"/>
          </a:p>
          <a:p>
            <a:pPr indent="0" marL="0">
              <a:lnSpc>
                <a:spcPct val="105000"/>
              </a:lnSpc>
              <a:buNone/>
            </a:pPr>
            <a:r>
              <a:rPr lang="en-US" sz="3000" b="1" dirty="0">
                <a:solidFill>
                  <a:srgbClr val="081813"/>
                </a:solidFill>
                <a:latin typeface="Arial" pitchFamily="34" charset="0"/>
                <a:ea typeface="Arial" pitchFamily="34" charset="-122"/>
                <a:cs typeface="Arial" pitchFamily="34" charset="-120"/>
              </a:rPr>
              <a:t>SMS de confirmation.</a:t>
            </a:r>
            <a:endParaRPr lang="en-US" sz="3000" dirty="0"/>
          </a:p>
          <a:p>
            <a:pPr indent="0" marL="0">
              <a:lnSpc>
                <a:spcPct val="105000"/>
              </a:lnSpc>
              <a:buNone/>
            </a:pPr>
            <a:r>
              <a:rPr lang="en-US" sz="5800" b="1" dirty="0">
                <a:solidFill>
                  <a:srgbClr val="081813"/>
                </a:solidFill>
                <a:latin typeface="Arial" pitchFamily="34" charset="0"/>
                <a:ea typeface="Arial" pitchFamily="34" charset="-122"/>
                <a:cs typeface="Arial" pitchFamily="34" charset="-120"/>
              </a:rPr>
              <a:t>Ce SMS, c’est l’API.</a:t>
            </a:r>
            <a:endParaRPr lang="en-US" sz="3000" dirty="0"/>
          </a:p>
        </p:txBody>
      </p:sp>
      <p:sp>
        <p:nvSpPr>
          <p:cNvPr id="4" name="Text 2"/>
          <p:cNvSpPr txBox="1"/>
          <p:nvPr/>
        </p:nvSpPr>
        <p:spPr>
          <a:xfrm>
            <a:off x="566928" y="4892040"/>
            <a:ext cx="10607040" cy="1051560"/>
          </a:xfrm>
          <a:prstGeom prst="rect">
            <a:avLst/>
          </a:prstGeom>
          <a:noFill/>
          <a:ln/>
        </p:spPr>
        <p:txBody>
          <a:bodyPr wrap="square" lIns="0" tIns="0" rIns="0" bIns="0" rtlCol="0" anchor="ctr"/>
          <a:lstStyle/>
          <a:p>
            <a:pPr indent="0" marL="0">
              <a:lnSpc>
                <a:spcPct val="112000"/>
              </a:lnSpc>
              <a:buNone/>
            </a:pPr>
            <a:r>
              <a:rPr lang="en-US" sz="1750" dirty="0">
                <a:solidFill>
                  <a:srgbClr val="3D2E08"/>
                </a:solidFill>
                <a:latin typeface="Calibri" pitchFamily="34" charset="0"/>
                <a:ea typeface="Calibri" pitchFamily="34" charset="-122"/>
                <a:cs typeface="Calibri" pitchFamily="34" charset="-120"/>
              </a:rPr>
              <a:t>KODA lit le SMS que vous recevez déjà — référence, montant, expéditeur, solde — et le transforme en une vérité vérifiable, verrouillée contre le rejeu. Aucune intégration opérateur. Jamais.</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231C"/>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COMMENT ÇA MARCHE</a:t>
            </a:r>
            <a:endParaRPr lang="en-US" sz="1150" dirty="0"/>
          </a:p>
        </p:txBody>
      </p:sp>
      <p:sp>
        <p:nvSpPr>
          <p:cNvPr id="3" name="Text 1"/>
          <p:cNvSpPr txBox="1"/>
          <p:nvPr/>
        </p:nvSpPr>
        <p:spPr>
          <a:xfrm>
            <a:off x="566928" y="960120"/>
            <a:ext cx="10972800" cy="640080"/>
          </a:xfrm>
          <a:prstGeom prst="rect">
            <a:avLst/>
          </a:prstGeom>
          <a:noFill/>
          <a:ln/>
        </p:spPr>
        <p:txBody>
          <a:bodyPr wrap="square" lIns="0" tIns="0" rIns="0" bIns="0" rtlCol="0" anchor="ctr"/>
          <a:lstStyle/>
          <a:p>
            <a:pPr indent="0" marL="0">
              <a:buNone/>
            </a:pPr>
            <a:r>
              <a:rPr lang="en-US" sz="3000" b="1" dirty="0">
                <a:solidFill>
                  <a:srgbClr val="E9E4D5"/>
                </a:solidFill>
                <a:latin typeface="Arial" pitchFamily="34" charset="0"/>
                <a:ea typeface="Arial" pitchFamily="34" charset="-122"/>
                <a:cs typeface="Arial" pitchFamily="34" charset="-120"/>
              </a:rPr>
              <a:t>Votre client paie exactement comme hier.</a:t>
            </a:r>
            <a:endParaRPr lang="en-US" sz="3000" dirty="0"/>
          </a:p>
        </p:txBody>
      </p:sp>
      <p:sp>
        <p:nvSpPr>
          <p:cNvPr id="4" name="Shape 2"/>
          <p:cNvSpPr/>
          <p:nvPr/>
        </p:nvSpPr>
        <p:spPr>
          <a:xfrm>
            <a:off x="566928" y="2103120"/>
            <a:ext cx="2558720" cy="3200400"/>
          </a:xfrm>
          <a:prstGeom prst="roundRect">
            <a:avLst>
              <a:gd name="adj" fmla="val 3931"/>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5" name="Shape 3"/>
          <p:cNvSpPr/>
          <p:nvPr/>
        </p:nvSpPr>
        <p:spPr>
          <a:xfrm>
            <a:off x="822960" y="2377440"/>
            <a:ext cx="658368" cy="658368"/>
          </a:xfrm>
          <a:prstGeom prst="ellipse">
            <a:avLst/>
          </a:prstGeom>
          <a:solidFill>
            <a:srgbClr val="E8A11F"/>
          </a:solidFill>
          <a:ln/>
        </p:spPr>
      </p:sp>
      <p:sp>
        <p:nvSpPr>
          <p:cNvPr id="6" name="Text 4"/>
          <p:cNvSpPr txBox="1"/>
          <p:nvPr/>
        </p:nvSpPr>
        <p:spPr>
          <a:xfrm>
            <a:off x="822960" y="2377440"/>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1</a:t>
            </a:r>
            <a:endParaRPr lang="en-US" sz="2600" dirty="0"/>
          </a:p>
        </p:txBody>
      </p:sp>
      <p:sp>
        <p:nvSpPr>
          <p:cNvPr id="7" name="Text 5"/>
          <p:cNvSpPr txBox="1"/>
          <p:nvPr/>
        </p:nvSpPr>
        <p:spPr>
          <a:xfrm>
            <a:off x="804672" y="3200400"/>
            <a:ext cx="2083232"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Le client paie</a:t>
            </a:r>
            <a:endParaRPr lang="en-US" sz="1600" dirty="0"/>
          </a:p>
        </p:txBody>
      </p:sp>
      <p:sp>
        <p:nvSpPr>
          <p:cNvPr id="8" name="Text 6"/>
          <p:cNvSpPr txBox="1"/>
          <p:nvPr/>
        </p:nvSpPr>
        <p:spPr>
          <a:xfrm>
            <a:off x="804672" y="3886200"/>
            <a:ext cx="2083232" cy="132588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En mobile money vers votre numéro marchand habituel — rien de nouveau à apprendre.</a:t>
            </a:r>
            <a:endParaRPr lang="en-US" sz="1250" dirty="0"/>
          </a:p>
        </p:txBody>
      </p:sp>
      <p:sp>
        <p:nvSpPr>
          <p:cNvPr id="9" name="Shape 7"/>
          <p:cNvSpPr/>
          <p:nvPr/>
        </p:nvSpPr>
        <p:spPr>
          <a:xfrm>
            <a:off x="3399968" y="2103120"/>
            <a:ext cx="2558720" cy="3200400"/>
          </a:xfrm>
          <a:prstGeom prst="roundRect">
            <a:avLst>
              <a:gd name="adj" fmla="val 3931"/>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0" name="Shape 8"/>
          <p:cNvSpPr/>
          <p:nvPr/>
        </p:nvSpPr>
        <p:spPr>
          <a:xfrm>
            <a:off x="3656000" y="2377440"/>
            <a:ext cx="658368" cy="658368"/>
          </a:xfrm>
          <a:prstGeom prst="ellipse">
            <a:avLst/>
          </a:prstGeom>
          <a:solidFill>
            <a:srgbClr val="E8A11F"/>
          </a:solidFill>
          <a:ln/>
        </p:spPr>
      </p:sp>
      <p:sp>
        <p:nvSpPr>
          <p:cNvPr id="11" name="Text 9"/>
          <p:cNvSpPr txBox="1"/>
          <p:nvPr/>
        </p:nvSpPr>
        <p:spPr>
          <a:xfrm>
            <a:off x="3656000" y="2377440"/>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3637712" y="3200400"/>
            <a:ext cx="2083232"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Le SMS opérateur arrive</a:t>
            </a:r>
            <a:endParaRPr lang="en-US" sz="1600" dirty="0"/>
          </a:p>
        </p:txBody>
      </p:sp>
      <p:sp>
        <p:nvSpPr>
          <p:cNvPr id="13" name="Text 11"/>
          <p:cNvSpPr txBox="1"/>
          <p:nvPr/>
        </p:nvSpPr>
        <p:spPr>
          <a:xfrm>
            <a:off x="3637712" y="3886200"/>
            <a:ext cx="2083232" cy="132588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Le SMS de confirmation arrive sur votre téléphone, exactement comme toujours.</a:t>
            </a:r>
            <a:endParaRPr lang="en-US" sz="1250" dirty="0"/>
          </a:p>
        </p:txBody>
      </p:sp>
      <p:sp>
        <p:nvSpPr>
          <p:cNvPr id="14" name="Shape 12"/>
          <p:cNvSpPr/>
          <p:nvPr/>
        </p:nvSpPr>
        <p:spPr>
          <a:xfrm>
            <a:off x="6233008" y="2103120"/>
            <a:ext cx="2558720" cy="3200400"/>
          </a:xfrm>
          <a:prstGeom prst="roundRect">
            <a:avLst>
              <a:gd name="adj" fmla="val 3931"/>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5" name="Shape 13"/>
          <p:cNvSpPr/>
          <p:nvPr/>
        </p:nvSpPr>
        <p:spPr>
          <a:xfrm>
            <a:off x="6489040" y="2377440"/>
            <a:ext cx="658368" cy="658368"/>
          </a:xfrm>
          <a:prstGeom prst="ellipse">
            <a:avLst/>
          </a:prstGeom>
          <a:solidFill>
            <a:srgbClr val="E8A11F"/>
          </a:solidFill>
          <a:ln/>
        </p:spPr>
      </p:sp>
      <p:sp>
        <p:nvSpPr>
          <p:cNvPr id="16" name="Text 14"/>
          <p:cNvSpPr txBox="1"/>
          <p:nvPr/>
        </p:nvSpPr>
        <p:spPr>
          <a:xfrm>
            <a:off x="6489040" y="2377440"/>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3</a:t>
            </a:r>
            <a:endParaRPr lang="en-US" sz="2600" dirty="0"/>
          </a:p>
        </p:txBody>
      </p:sp>
      <p:sp>
        <p:nvSpPr>
          <p:cNvPr id="17" name="Text 15"/>
          <p:cNvSpPr txBox="1"/>
          <p:nvPr/>
        </p:nvSpPr>
        <p:spPr>
          <a:xfrm>
            <a:off x="6470752" y="3200400"/>
            <a:ext cx="2083232"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KODA lit et rapproche</a:t>
            </a:r>
            <a:endParaRPr lang="en-US" sz="1600" dirty="0"/>
          </a:p>
        </p:txBody>
      </p:sp>
      <p:sp>
        <p:nvSpPr>
          <p:cNvPr id="18" name="Text 16"/>
          <p:cNvSpPr txBox="1"/>
          <p:nvPr/>
        </p:nvSpPr>
        <p:spPr>
          <a:xfrm>
            <a:off x="6470752" y="3886200"/>
            <a:ext cx="2083232" cy="132588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Il analyse le SMS, rapproche le code du client et passe les contrôles anti-fraude.</a:t>
            </a:r>
            <a:endParaRPr lang="en-US" sz="1250" dirty="0"/>
          </a:p>
        </p:txBody>
      </p:sp>
      <p:sp>
        <p:nvSpPr>
          <p:cNvPr id="19" name="Shape 17"/>
          <p:cNvSpPr/>
          <p:nvPr/>
        </p:nvSpPr>
        <p:spPr>
          <a:xfrm>
            <a:off x="9066047" y="2103120"/>
            <a:ext cx="2558720" cy="3200400"/>
          </a:xfrm>
          <a:prstGeom prst="roundRect">
            <a:avLst>
              <a:gd name="adj" fmla="val 3931"/>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9322079" y="2377440"/>
            <a:ext cx="658368" cy="658368"/>
          </a:xfrm>
          <a:prstGeom prst="ellipse">
            <a:avLst/>
          </a:prstGeom>
          <a:solidFill>
            <a:srgbClr val="E8A11F"/>
          </a:solidFill>
          <a:ln/>
        </p:spPr>
      </p:sp>
      <p:sp>
        <p:nvSpPr>
          <p:cNvPr id="21" name="Text 19"/>
          <p:cNvSpPr txBox="1"/>
          <p:nvPr/>
        </p:nvSpPr>
        <p:spPr>
          <a:xfrm>
            <a:off x="9322079" y="2377440"/>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4</a:t>
            </a:r>
            <a:endParaRPr lang="en-US" sz="2600" dirty="0"/>
          </a:p>
        </p:txBody>
      </p:sp>
      <p:sp>
        <p:nvSpPr>
          <p:cNvPr id="22" name="Text 20"/>
          <p:cNvSpPr txBox="1"/>
          <p:nvPr/>
        </p:nvSpPr>
        <p:spPr>
          <a:xfrm>
            <a:off x="9303791" y="3200400"/>
            <a:ext cx="2083232"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Verdict en ~3 s</a:t>
            </a:r>
            <a:endParaRPr lang="en-US" sz="1600" dirty="0"/>
          </a:p>
        </p:txBody>
      </p:sp>
      <p:sp>
        <p:nvSpPr>
          <p:cNvPr id="23" name="Text 21"/>
          <p:cNvSpPr txBox="1"/>
          <p:nvPr/>
        </p:nvSpPr>
        <p:spPr>
          <a:xfrm>
            <a:off x="9303791" y="3886200"/>
            <a:ext cx="2083232" cy="132588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Livré là où vous travaillez : un webhook, un ✅ dans le chat, ou une carte verte dans la console.</a:t>
            </a:r>
            <a:endParaRPr lang="en-US" sz="1250" dirty="0"/>
          </a:p>
        </p:txBody>
      </p:sp>
      <p:sp>
        <p:nvSpPr>
          <p:cNvPr id="24" name="Text 22"/>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LA SEULE CONDITION</a:t>
            </a:r>
            <a:endParaRPr lang="en-US" sz="1150" dirty="0"/>
          </a:p>
        </p:txBody>
      </p:sp>
      <p:sp>
        <p:nvSpPr>
          <p:cNvPr id="3" name="Text 1"/>
          <p:cNvSpPr txBox="1"/>
          <p:nvPr/>
        </p:nvSpPr>
        <p:spPr>
          <a:xfrm>
            <a:off x="566928" y="960120"/>
            <a:ext cx="11155680" cy="731520"/>
          </a:xfrm>
          <a:prstGeom prst="rect">
            <a:avLst/>
          </a:prstGeom>
          <a:noFill/>
          <a:ln/>
        </p:spPr>
        <p:txBody>
          <a:bodyPr wrap="square" lIns="0" tIns="0" rIns="0" bIns="0" rtlCol="0" anchor="ctr"/>
          <a:lstStyle/>
          <a:p>
            <a:pPr indent="0" marL="0">
              <a:buNone/>
            </a:pPr>
            <a:r>
              <a:rPr lang="en-US" sz="2800" b="1" dirty="0">
                <a:solidFill>
                  <a:srgbClr val="E9E4D5"/>
                </a:solidFill>
                <a:latin typeface="Arial" pitchFamily="34" charset="0"/>
                <a:ea typeface="Arial" pitchFamily="34" charset="-122"/>
                <a:cs typeface="Arial" pitchFamily="34" charset="-120"/>
              </a:rPr>
              <a:t>Si votre opérateur VOUS écrit quand vous êtes payé, KODA fonctionne.</a:t>
            </a:r>
            <a:endParaRPr lang="en-US" sz="2800" dirty="0"/>
          </a:p>
        </p:txBody>
      </p:sp>
      <p:sp>
        <p:nvSpPr>
          <p:cNvPr id="4" name="Text 2"/>
          <p:cNvSpPr txBox="1"/>
          <p:nvPr/>
        </p:nvSpPr>
        <p:spPr>
          <a:xfrm>
            <a:off x="566928" y="1737360"/>
            <a:ext cx="10972800" cy="457200"/>
          </a:xfrm>
          <a:prstGeom prst="rect">
            <a:avLst/>
          </a:prstGeom>
          <a:noFill/>
          <a:ln/>
        </p:spPr>
        <p:txBody>
          <a:bodyPr wrap="square" lIns="0" tIns="0" rIns="0" bIns="0" rtlCol="0" anchor="ctr"/>
          <a:lstStyle/>
          <a:p>
            <a:pPr indent="0" marL="0">
              <a:buNone/>
            </a:pPr>
            <a:r>
              <a:rPr lang="en-US" sz="1400" dirty="0">
                <a:solidFill>
                  <a:srgbClr val="9BA79B"/>
                </a:solidFill>
                <a:latin typeface="Calibri" pitchFamily="34" charset="0"/>
                <a:ea typeface="Calibri" pitchFamily="34" charset="-122"/>
                <a:cs typeface="Calibri" pitchFamily="34" charset="-120"/>
              </a:rPr>
              <a:t>KODA vérifie grâce au SMS de confirmation que votre opérateur mobile money envoie déjà à votre numéro marchand. Toute la liste :</a:t>
            </a:r>
            <a:endParaRPr lang="en-US" sz="1400" dirty="0"/>
          </a:p>
        </p:txBody>
      </p:sp>
      <p:sp>
        <p:nvSpPr>
          <p:cNvPr id="5" name="Shape 3"/>
          <p:cNvSpPr/>
          <p:nvPr/>
        </p:nvSpPr>
        <p:spPr>
          <a:xfrm>
            <a:off x="566928" y="2423160"/>
            <a:ext cx="3503066" cy="2880360"/>
          </a:xfrm>
          <a:prstGeom prst="roundRect">
            <a:avLst>
              <a:gd name="adj" fmla="val 349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6" name="Shape 4"/>
          <p:cNvSpPr/>
          <p:nvPr/>
        </p:nvSpPr>
        <p:spPr>
          <a:xfrm>
            <a:off x="841248" y="2697480"/>
            <a:ext cx="658368" cy="658368"/>
          </a:xfrm>
          <a:prstGeom prst="roundRect">
            <a:avLst>
              <a:gd name="adj" fmla="val 13889"/>
            </a:avLst>
          </a:prstGeom>
          <a:solidFill>
            <a:srgbClr val="17392E"/>
          </a:solidFill>
          <a:ln w="12700">
            <a:solidFill>
              <a:srgbClr val="E8A11F"/>
            </a:solidFill>
            <a:prstDash val="solid"/>
          </a:ln>
        </p:spPr>
      </p:sp>
      <p:pic>
        <p:nvPicPr>
          <p:cNvPr id="7" name="Image 0" descr="preencoded.png">    </p:cNvPr>
          <p:cNvPicPr>
            <a:picLocks noChangeAspect="1"/>
          </p:cNvPicPr>
          <p:nvPr/>
        </p:nvPicPr>
        <p:blipFill>
          <a:blip r:embed="rId1"/>
          <a:stretch>
            <a:fillRect/>
          </a:stretch>
        </p:blipFill>
        <p:spPr>
          <a:xfrm>
            <a:off x="972922" y="2829154"/>
            <a:ext cx="395021" cy="395021"/>
          </a:xfrm>
          <a:prstGeom prst="rect">
            <a:avLst/>
          </a:prstGeom>
        </p:spPr>
      </p:pic>
      <p:sp>
        <p:nvSpPr>
          <p:cNvPr id="8" name="Text 5"/>
          <p:cNvSpPr txBox="1"/>
          <p:nvPr/>
        </p:nvSpPr>
        <p:spPr>
          <a:xfrm>
            <a:off x="841248" y="3538728"/>
            <a:ext cx="2954426" cy="77724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Vous acceptez le mobile money</a:t>
            </a:r>
            <a:endParaRPr lang="en-US" sz="1500" dirty="0"/>
          </a:p>
        </p:txBody>
      </p:sp>
      <p:sp>
        <p:nvSpPr>
          <p:cNvPr id="9" name="Text 6"/>
          <p:cNvSpPr txBox="1"/>
          <p:nvPr/>
        </p:nvSpPr>
        <p:spPr>
          <a:xfrm>
            <a:off x="841248" y="4297680"/>
            <a:ext cx="2954426" cy="914400"/>
          </a:xfrm>
          <a:prstGeom prst="rect">
            <a:avLst/>
          </a:prstGeom>
          <a:noFill/>
          <a:ln/>
        </p:spPr>
        <p:txBody>
          <a:bodyPr wrap="square" lIns="0" tIns="0" rIns="0" bIns="0" rtlCol="0" anchor="ctr"/>
          <a:lstStyle/>
          <a:p>
            <a:pPr indent="0" marL="0">
              <a:lnSpc>
                <a:spcPct val="110000"/>
              </a:lnSpc>
              <a:buNone/>
            </a:pPr>
            <a:r>
              <a:rPr lang="en-US" sz="1200" dirty="0">
                <a:solidFill>
                  <a:srgbClr val="9BA79B"/>
                </a:solidFill>
                <a:latin typeface="Calibri" pitchFamily="34" charset="0"/>
                <a:ea typeface="Calibri" pitchFamily="34" charset="-122"/>
                <a:cs typeface="Calibri" pitchFamily="34" charset="-120"/>
              </a:rPr>
              <a:t>Orange Money, M-Pesa, Airtel, Afrimoney, MTN, Wave — et plus de 200 opérateurs.</a:t>
            </a:r>
            <a:endParaRPr lang="en-US" sz="1200" dirty="0"/>
          </a:p>
        </p:txBody>
      </p:sp>
      <p:sp>
        <p:nvSpPr>
          <p:cNvPr id="10" name="Shape 7"/>
          <p:cNvSpPr/>
          <p:nvPr/>
        </p:nvSpPr>
        <p:spPr>
          <a:xfrm>
            <a:off x="4344314" y="2423160"/>
            <a:ext cx="3503066" cy="2880360"/>
          </a:xfrm>
          <a:prstGeom prst="roundRect">
            <a:avLst>
              <a:gd name="adj" fmla="val 349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1" name="Shape 8"/>
          <p:cNvSpPr/>
          <p:nvPr/>
        </p:nvSpPr>
        <p:spPr>
          <a:xfrm>
            <a:off x="4618634" y="2697480"/>
            <a:ext cx="658368" cy="658368"/>
          </a:xfrm>
          <a:prstGeom prst="roundRect">
            <a:avLst>
              <a:gd name="adj" fmla="val 13889"/>
            </a:avLst>
          </a:prstGeom>
          <a:solidFill>
            <a:srgbClr val="17392E"/>
          </a:solidFill>
          <a:ln w="12700">
            <a:solidFill>
              <a:srgbClr val="E8A11F"/>
            </a:solidFill>
            <a:prstDash val="solid"/>
          </a:ln>
        </p:spPr>
      </p:sp>
      <p:pic>
        <p:nvPicPr>
          <p:cNvPr id="12" name="Image 1" descr="preencoded.png">    </p:cNvPr>
          <p:cNvPicPr>
            <a:picLocks noChangeAspect="1"/>
          </p:cNvPicPr>
          <p:nvPr/>
        </p:nvPicPr>
        <p:blipFill>
          <a:blip r:embed="rId2"/>
          <a:stretch>
            <a:fillRect/>
          </a:stretch>
        </p:blipFill>
        <p:spPr>
          <a:xfrm>
            <a:off x="4750308" y="2829154"/>
            <a:ext cx="395021" cy="395021"/>
          </a:xfrm>
          <a:prstGeom prst="rect">
            <a:avLst/>
          </a:prstGeom>
        </p:spPr>
      </p:pic>
      <p:sp>
        <p:nvSpPr>
          <p:cNvPr id="13" name="Text 9"/>
          <p:cNvSpPr txBox="1"/>
          <p:nvPr/>
        </p:nvSpPr>
        <p:spPr>
          <a:xfrm>
            <a:off x="4618634" y="3538728"/>
            <a:ext cx="2954426" cy="77724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Le SMS de confirmation arrive sur votre téléphone</a:t>
            </a:r>
            <a:endParaRPr lang="en-US" sz="1500" dirty="0"/>
          </a:p>
        </p:txBody>
      </p:sp>
      <p:sp>
        <p:nvSpPr>
          <p:cNvPr id="14" name="Text 10"/>
          <p:cNvSpPr txBox="1"/>
          <p:nvPr/>
        </p:nvSpPr>
        <p:spPr>
          <a:xfrm>
            <a:off x="4618634" y="4297680"/>
            <a:ext cx="2954426" cy="914400"/>
          </a:xfrm>
          <a:prstGeom prst="rect">
            <a:avLst/>
          </a:prstGeom>
          <a:noFill/>
          <a:ln/>
        </p:spPr>
        <p:txBody>
          <a:bodyPr wrap="square" lIns="0" tIns="0" rIns="0" bIns="0" rtlCol="0" anchor="ctr"/>
          <a:lstStyle/>
          <a:p>
            <a:pPr indent="0" marL="0">
              <a:lnSpc>
                <a:spcPct val="110000"/>
              </a:lnSpc>
              <a:buNone/>
            </a:pPr>
            <a:r>
              <a:rPr lang="en-US" sz="1200" dirty="0">
                <a:solidFill>
                  <a:srgbClr val="9BA79B"/>
                </a:solidFill>
                <a:latin typeface="Calibri" pitchFamily="34" charset="0"/>
                <a:ea typeface="Calibri" pitchFamily="34" charset="-122"/>
                <a:cs typeface="Calibri" pitchFamily="34" charset="-120"/>
              </a:rPr>
              <a:t>Celui que votre opérateur envoie à votre numéro marchand à chaque paiement.</a:t>
            </a:r>
            <a:endParaRPr lang="en-US" sz="1200" dirty="0"/>
          </a:p>
        </p:txBody>
      </p:sp>
      <p:sp>
        <p:nvSpPr>
          <p:cNvPr id="15" name="Shape 11"/>
          <p:cNvSpPr/>
          <p:nvPr/>
        </p:nvSpPr>
        <p:spPr>
          <a:xfrm>
            <a:off x="8121701" y="2423160"/>
            <a:ext cx="3503066" cy="2880360"/>
          </a:xfrm>
          <a:prstGeom prst="roundRect">
            <a:avLst>
              <a:gd name="adj" fmla="val 349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6" name="Shape 12"/>
          <p:cNvSpPr/>
          <p:nvPr/>
        </p:nvSpPr>
        <p:spPr>
          <a:xfrm>
            <a:off x="8396021" y="2697480"/>
            <a:ext cx="658368" cy="658368"/>
          </a:xfrm>
          <a:prstGeom prst="roundRect">
            <a:avLst>
              <a:gd name="adj" fmla="val 13889"/>
            </a:avLst>
          </a:prstGeom>
          <a:solidFill>
            <a:srgbClr val="17392E"/>
          </a:solidFill>
          <a:ln w="12700">
            <a:solidFill>
              <a:srgbClr val="E8A11F"/>
            </a:solidFill>
            <a:prstDash val="solid"/>
          </a:ln>
        </p:spPr>
      </p:sp>
      <p:pic>
        <p:nvPicPr>
          <p:cNvPr id="17" name="Image 2" descr="preencoded.png">    </p:cNvPr>
          <p:cNvPicPr>
            <a:picLocks noChangeAspect="1"/>
          </p:cNvPicPr>
          <p:nvPr/>
        </p:nvPicPr>
        <p:blipFill>
          <a:blip r:embed="rId3"/>
          <a:stretch>
            <a:fillRect/>
          </a:stretch>
        </p:blipFill>
        <p:spPr>
          <a:xfrm>
            <a:off x="8527694" y="2829154"/>
            <a:ext cx="395021" cy="395021"/>
          </a:xfrm>
          <a:prstGeom prst="rect">
            <a:avLst/>
          </a:prstGeom>
        </p:spPr>
      </p:pic>
      <p:sp>
        <p:nvSpPr>
          <p:cNvPr id="18" name="Text 13"/>
          <p:cNvSpPr txBox="1"/>
          <p:nvPr/>
        </p:nvSpPr>
        <p:spPr>
          <a:xfrm>
            <a:off x="8396021" y="3538728"/>
            <a:ext cx="2954426" cy="77724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C’est tout — vous êtes prêt</a:t>
            </a:r>
            <a:endParaRPr lang="en-US" sz="1500" dirty="0"/>
          </a:p>
        </p:txBody>
      </p:sp>
      <p:sp>
        <p:nvSpPr>
          <p:cNvPr id="19" name="Text 14"/>
          <p:cNvSpPr txBox="1"/>
          <p:nvPr/>
        </p:nvSpPr>
        <p:spPr>
          <a:xfrm>
            <a:off x="8396021" y="4297680"/>
            <a:ext cx="2954426" cy="914400"/>
          </a:xfrm>
          <a:prstGeom prst="rect">
            <a:avLst/>
          </a:prstGeom>
          <a:noFill/>
          <a:ln/>
        </p:spPr>
        <p:txBody>
          <a:bodyPr wrap="square" lIns="0" tIns="0" rIns="0" bIns="0" rtlCol="0" anchor="ctr"/>
          <a:lstStyle/>
          <a:p>
            <a:pPr indent="0" marL="0">
              <a:lnSpc>
                <a:spcPct val="110000"/>
              </a:lnSpc>
              <a:buNone/>
            </a:pPr>
            <a:r>
              <a:rPr lang="en-US" sz="1200" dirty="0">
                <a:solidFill>
                  <a:srgbClr val="9BA79B"/>
                </a:solidFill>
                <a:latin typeface="Calibri" pitchFamily="34" charset="0"/>
                <a:ea typeface="Calibri" pitchFamily="34" charset="-122"/>
                <a:cs typeface="Calibri" pitchFamily="34" charset="-120"/>
              </a:rPr>
              <a:t>Aucune nouvelle SIM. Aucun nouveau numéro. Rien à installer pour votre client.</a:t>
            </a:r>
            <a:endParaRPr lang="en-US" sz="1200" dirty="0"/>
          </a:p>
        </p:txBody>
      </p:sp>
      <p:sp>
        <p:nvSpPr>
          <p:cNvPr id="20" name="Text 15"/>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231C"/>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S’ADAPTE À CHAQUE COMMERÇANT</a:t>
            </a:r>
            <a:endParaRPr lang="en-US" sz="1150" dirty="0"/>
          </a:p>
        </p:txBody>
      </p:sp>
      <p:sp>
        <p:nvSpPr>
          <p:cNvPr id="3" name="Text 1"/>
          <p:cNvSpPr txBox="1"/>
          <p:nvPr/>
        </p:nvSpPr>
        <p:spPr>
          <a:xfrm>
            <a:off x="566928" y="960120"/>
            <a:ext cx="7315200" cy="640080"/>
          </a:xfrm>
          <a:prstGeom prst="rect">
            <a:avLst/>
          </a:prstGeom>
          <a:noFill/>
          <a:ln/>
        </p:spPr>
        <p:txBody>
          <a:bodyPr wrap="square" lIns="0" tIns="0" rIns="0" bIns="0" rtlCol="0" anchor="ctr"/>
          <a:lstStyle/>
          <a:p>
            <a:pPr indent="0" marL="0">
              <a:buNone/>
            </a:pPr>
            <a:r>
              <a:rPr lang="en-US" sz="3400" b="1" dirty="0">
                <a:solidFill>
                  <a:srgbClr val="E9E4D5"/>
                </a:solidFill>
                <a:latin typeface="Arial" pitchFamily="34" charset="0"/>
                <a:ea typeface="Arial" pitchFamily="34" charset="-122"/>
                <a:cs typeface="Arial" pitchFamily="34" charset="-120"/>
              </a:rPr>
              <a:t>Un moteur. Cinq portes.</a:t>
            </a:r>
            <a:endParaRPr lang="en-US" sz="3400" dirty="0"/>
          </a:p>
        </p:txBody>
      </p:sp>
      <p:sp>
        <p:nvSpPr>
          <p:cNvPr id="4" name="Text 2"/>
          <p:cNvSpPr txBox="1"/>
          <p:nvPr/>
        </p:nvSpPr>
        <p:spPr>
          <a:xfrm>
            <a:off x="566928" y="1572768"/>
            <a:ext cx="10881360" cy="457200"/>
          </a:xfrm>
          <a:prstGeom prst="rect">
            <a:avLst/>
          </a:prstGeom>
          <a:noFill/>
          <a:ln/>
        </p:spPr>
        <p:txBody>
          <a:bodyPr wrap="square" lIns="0" tIns="0" rIns="0" bIns="0" rtlCol="0" anchor="ctr"/>
          <a:lstStyle/>
          <a:p>
            <a:pPr indent="0" marL="0">
              <a:buNone/>
            </a:pPr>
            <a:r>
              <a:rPr lang="en-US" sz="1450" dirty="0">
                <a:solidFill>
                  <a:srgbClr val="9BA79B"/>
                </a:solidFill>
                <a:latin typeface="Calibri" pitchFamily="34" charset="0"/>
                <a:ea typeface="Calibri" pitchFamily="34" charset="-122"/>
                <a:cs typeface="Calibri" pitchFamily="34" charset="-120"/>
              </a:rPr>
              <a:t>Du paiement sur smartphone au téléphone simple sans internet — votre client confirme comme il peut.</a:t>
            </a:r>
            <a:endParaRPr lang="en-US" sz="1450" dirty="0"/>
          </a:p>
        </p:txBody>
      </p:sp>
      <p:sp>
        <p:nvSpPr>
          <p:cNvPr id="5" name="Shape 3"/>
          <p:cNvSpPr/>
          <p:nvPr/>
        </p:nvSpPr>
        <p:spPr>
          <a:xfrm>
            <a:off x="566928" y="2331720"/>
            <a:ext cx="2006742" cy="3017520"/>
          </a:xfrm>
          <a:prstGeom prst="roundRect">
            <a:avLst>
              <a:gd name="adj" fmla="val 501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6" name="Shape 4"/>
          <p:cNvSpPr/>
          <p:nvPr/>
        </p:nvSpPr>
        <p:spPr>
          <a:xfrm>
            <a:off x="822960" y="2624328"/>
            <a:ext cx="603504" cy="603504"/>
          </a:xfrm>
          <a:prstGeom prst="roundRect">
            <a:avLst>
              <a:gd name="adj" fmla="val 15152"/>
            </a:avLst>
          </a:prstGeom>
          <a:solidFill>
            <a:srgbClr val="17392E"/>
          </a:solidFill>
          <a:ln w="12700">
            <a:solidFill>
              <a:srgbClr val="E8A11F"/>
            </a:solidFill>
            <a:prstDash val="solid"/>
          </a:ln>
        </p:spPr>
      </p:sp>
      <p:pic>
        <p:nvPicPr>
          <p:cNvPr id="7" name="Image 0" descr="preencoded.png">    </p:cNvPr>
          <p:cNvPicPr>
            <a:picLocks noChangeAspect="1"/>
          </p:cNvPicPr>
          <p:nvPr/>
        </p:nvPicPr>
        <p:blipFill>
          <a:blip r:embed="rId1"/>
          <a:stretch>
            <a:fillRect/>
          </a:stretch>
        </p:blipFill>
        <p:spPr>
          <a:xfrm>
            <a:off x="943661" y="2745029"/>
            <a:ext cx="362102" cy="362102"/>
          </a:xfrm>
          <a:prstGeom prst="rect">
            <a:avLst/>
          </a:prstGeom>
        </p:spPr>
      </p:pic>
      <p:sp>
        <p:nvSpPr>
          <p:cNvPr id="8" name="Text 5"/>
          <p:cNvSpPr txBox="1"/>
          <p:nvPr/>
        </p:nvSpPr>
        <p:spPr>
          <a:xfrm>
            <a:off x="786384" y="3383280"/>
            <a:ext cx="1567830" cy="41148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Manuel</a:t>
            </a:r>
            <a:endParaRPr lang="en-US" sz="1500" dirty="0"/>
          </a:p>
        </p:txBody>
      </p:sp>
      <p:sp>
        <p:nvSpPr>
          <p:cNvPr id="9" name="Text 6"/>
          <p:cNvSpPr txBox="1"/>
          <p:nvPr/>
        </p:nvSpPr>
        <p:spPr>
          <a:xfrm>
            <a:off x="786384" y="3813048"/>
            <a:ext cx="1567830" cy="1417320"/>
          </a:xfrm>
          <a:prstGeom prst="rect">
            <a:avLst/>
          </a:prstGeom>
          <a:noFill/>
          <a:ln/>
        </p:spPr>
        <p:txBody>
          <a:bodyPr wrap="square" lIns="0" tIns="0" rIns="0" bIns="0" rtlCol="0" anchor="ctr"/>
          <a:lstStyle/>
          <a:p>
            <a:pPr indent="0" marL="0">
              <a:lnSpc>
                <a:spcPct val="108000"/>
              </a:lnSpc>
              <a:buNone/>
            </a:pPr>
            <a:r>
              <a:rPr lang="en-US" sz="1150" dirty="0">
                <a:solidFill>
                  <a:srgbClr val="9BA79B"/>
                </a:solidFill>
                <a:latin typeface="Calibri" pitchFamily="34" charset="0"/>
                <a:ea typeface="Calibri" pitchFamily="34" charset="-122"/>
                <a:cs typeface="Calibri" pitchFamily="34" charset="-120"/>
              </a:rPr>
              <a:t>Collez le code dans la Console — aucun code à écrire.</a:t>
            </a:r>
            <a:endParaRPr lang="en-US" sz="1150" dirty="0"/>
          </a:p>
        </p:txBody>
      </p:sp>
      <p:sp>
        <p:nvSpPr>
          <p:cNvPr id="10" name="Shape 7"/>
          <p:cNvSpPr/>
          <p:nvPr/>
        </p:nvSpPr>
        <p:spPr>
          <a:xfrm>
            <a:off x="2829702" y="2331720"/>
            <a:ext cx="2006742" cy="3017520"/>
          </a:xfrm>
          <a:prstGeom prst="roundRect">
            <a:avLst>
              <a:gd name="adj" fmla="val 501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1" name="Shape 8"/>
          <p:cNvSpPr/>
          <p:nvPr/>
        </p:nvSpPr>
        <p:spPr>
          <a:xfrm>
            <a:off x="3085734" y="2624328"/>
            <a:ext cx="603504" cy="603504"/>
          </a:xfrm>
          <a:prstGeom prst="roundRect">
            <a:avLst>
              <a:gd name="adj" fmla="val 15152"/>
            </a:avLst>
          </a:prstGeom>
          <a:solidFill>
            <a:srgbClr val="17392E"/>
          </a:solidFill>
          <a:ln w="12700">
            <a:solidFill>
              <a:srgbClr val="E8A11F"/>
            </a:solidFill>
            <a:prstDash val="solid"/>
          </a:ln>
        </p:spPr>
      </p:sp>
      <p:pic>
        <p:nvPicPr>
          <p:cNvPr id="12" name="Image 1" descr="preencoded.png">    </p:cNvPr>
          <p:cNvPicPr>
            <a:picLocks noChangeAspect="1"/>
          </p:cNvPicPr>
          <p:nvPr/>
        </p:nvPicPr>
        <p:blipFill>
          <a:blip r:embed="rId2"/>
          <a:stretch>
            <a:fillRect/>
          </a:stretch>
        </p:blipFill>
        <p:spPr>
          <a:xfrm>
            <a:off x="3206435" y="2745029"/>
            <a:ext cx="362102" cy="362102"/>
          </a:xfrm>
          <a:prstGeom prst="rect">
            <a:avLst/>
          </a:prstGeom>
        </p:spPr>
      </p:pic>
      <p:sp>
        <p:nvSpPr>
          <p:cNvPr id="13" name="Text 9"/>
          <p:cNvSpPr txBox="1"/>
          <p:nvPr/>
        </p:nvSpPr>
        <p:spPr>
          <a:xfrm>
            <a:off x="3049158" y="3383280"/>
            <a:ext cx="1567830" cy="41148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WhatsApp</a:t>
            </a:r>
            <a:endParaRPr lang="en-US" sz="1500" dirty="0"/>
          </a:p>
        </p:txBody>
      </p:sp>
      <p:sp>
        <p:nvSpPr>
          <p:cNvPr id="14" name="Text 10"/>
          <p:cNvSpPr txBox="1"/>
          <p:nvPr/>
        </p:nvSpPr>
        <p:spPr>
          <a:xfrm>
            <a:off x="3049158" y="3813048"/>
            <a:ext cx="1567830" cy="1417320"/>
          </a:xfrm>
          <a:prstGeom prst="rect">
            <a:avLst/>
          </a:prstGeom>
          <a:noFill/>
          <a:ln/>
        </p:spPr>
        <p:txBody>
          <a:bodyPr wrap="square" lIns="0" tIns="0" rIns="0" bIns="0" rtlCol="0" anchor="ctr"/>
          <a:lstStyle/>
          <a:p>
            <a:pPr indent="0" marL="0">
              <a:lnSpc>
                <a:spcPct val="108000"/>
              </a:lnSpc>
              <a:buNone/>
            </a:pPr>
            <a:r>
              <a:rPr lang="en-US" sz="1150" dirty="0">
                <a:solidFill>
                  <a:srgbClr val="9BA79B"/>
                </a:solidFill>
                <a:latin typeface="Calibri" pitchFamily="34" charset="0"/>
                <a:ea typeface="Calibri" pitchFamily="34" charset="-122"/>
                <a:cs typeface="Calibri" pitchFamily="34" charset="-120"/>
              </a:rPr>
              <a:t>Le code déposé dans le chat est vérifié dans la conversation.</a:t>
            </a:r>
            <a:endParaRPr lang="en-US" sz="1150" dirty="0"/>
          </a:p>
        </p:txBody>
      </p:sp>
      <p:sp>
        <p:nvSpPr>
          <p:cNvPr id="15" name="Shape 11"/>
          <p:cNvSpPr/>
          <p:nvPr/>
        </p:nvSpPr>
        <p:spPr>
          <a:xfrm>
            <a:off x="5092476" y="2331720"/>
            <a:ext cx="2006742" cy="3017520"/>
          </a:xfrm>
          <a:prstGeom prst="roundRect">
            <a:avLst>
              <a:gd name="adj" fmla="val 501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6" name="Shape 12"/>
          <p:cNvSpPr/>
          <p:nvPr/>
        </p:nvSpPr>
        <p:spPr>
          <a:xfrm>
            <a:off x="5348508" y="2624328"/>
            <a:ext cx="603504" cy="603504"/>
          </a:xfrm>
          <a:prstGeom prst="roundRect">
            <a:avLst>
              <a:gd name="adj" fmla="val 15152"/>
            </a:avLst>
          </a:prstGeom>
          <a:solidFill>
            <a:srgbClr val="17392E"/>
          </a:solidFill>
          <a:ln w="12700">
            <a:solidFill>
              <a:srgbClr val="E8A11F"/>
            </a:solidFill>
            <a:prstDash val="solid"/>
          </a:ln>
        </p:spPr>
      </p:sp>
      <p:pic>
        <p:nvPicPr>
          <p:cNvPr id="17" name="Image 2" descr="preencoded.png">    </p:cNvPr>
          <p:cNvPicPr>
            <a:picLocks noChangeAspect="1"/>
          </p:cNvPicPr>
          <p:nvPr/>
        </p:nvPicPr>
        <p:blipFill>
          <a:blip r:embed="rId3"/>
          <a:stretch>
            <a:fillRect/>
          </a:stretch>
        </p:blipFill>
        <p:spPr>
          <a:xfrm>
            <a:off x="5469209" y="2745029"/>
            <a:ext cx="362102" cy="362102"/>
          </a:xfrm>
          <a:prstGeom prst="rect">
            <a:avLst/>
          </a:prstGeom>
        </p:spPr>
      </p:pic>
      <p:sp>
        <p:nvSpPr>
          <p:cNvPr id="18" name="Text 13"/>
          <p:cNvSpPr txBox="1"/>
          <p:nvPr/>
        </p:nvSpPr>
        <p:spPr>
          <a:xfrm>
            <a:off x="5311932" y="3383280"/>
            <a:ext cx="1567830" cy="41148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API / intégré</a:t>
            </a:r>
            <a:endParaRPr lang="en-US" sz="1500" dirty="0"/>
          </a:p>
        </p:txBody>
      </p:sp>
      <p:sp>
        <p:nvSpPr>
          <p:cNvPr id="19" name="Text 14"/>
          <p:cNvSpPr txBox="1"/>
          <p:nvPr/>
        </p:nvSpPr>
        <p:spPr>
          <a:xfrm>
            <a:off x="5311932" y="3813048"/>
            <a:ext cx="1567830" cy="1417320"/>
          </a:xfrm>
          <a:prstGeom prst="rect">
            <a:avLst/>
          </a:prstGeom>
          <a:noFill/>
          <a:ln/>
        </p:spPr>
        <p:txBody>
          <a:bodyPr wrap="square" lIns="0" tIns="0" rIns="0" bIns="0" rtlCol="0" anchor="ctr"/>
          <a:lstStyle/>
          <a:p>
            <a:pPr indent="0" marL="0">
              <a:lnSpc>
                <a:spcPct val="108000"/>
              </a:lnSpc>
              <a:buNone/>
            </a:pPr>
            <a:r>
              <a:rPr lang="en-US" sz="1150" dirty="0">
                <a:solidFill>
                  <a:srgbClr val="9BA79B"/>
                </a:solidFill>
                <a:latin typeface="Calibri" pitchFamily="34" charset="0"/>
                <a:ea typeface="Calibri" pitchFamily="34" charset="-122"/>
                <a:cs typeface="Calibri" pitchFamily="34" charset="-120"/>
              </a:rPr>
              <a:t>Trois endpoints, un widget et des webhooks signés.</a:t>
            </a:r>
            <a:endParaRPr lang="en-US" sz="1150" dirty="0"/>
          </a:p>
        </p:txBody>
      </p:sp>
      <p:sp>
        <p:nvSpPr>
          <p:cNvPr id="20" name="Shape 15"/>
          <p:cNvSpPr/>
          <p:nvPr/>
        </p:nvSpPr>
        <p:spPr>
          <a:xfrm>
            <a:off x="7355251" y="2331720"/>
            <a:ext cx="2006742" cy="3017520"/>
          </a:xfrm>
          <a:prstGeom prst="roundRect">
            <a:avLst>
              <a:gd name="adj" fmla="val 501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1" name="Shape 16"/>
          <p:cNvSpPr/>
          <p:nvPr/>
        </p:nvSpPr>
        <p:spPr>
          <a:xfrm>
            <a:off x="7611283" y="2624328"/>
            <a:ext cx="603504" cy="603504"/>
          </a:xfrm>
          <a:prstGeom prst="roundRect">
            <a:avLst>
              <a:gd name="adj" fmla="val 15152"/>
            </a:avLst>
          </a:prstGeom>
          <a:solidFill>
            <a:srgbClr val="17392E"/>
          </a:solidFill>
          <a:ln w="12700">
            <a:solidFill>
              <a:srgbClr val="E8A11F"/>
            </a:solidFill>
            <a:prstDash val="solid"/>
          </a:ln>
        </p:spPr>
      </p:sp>
      <p:pic>
        <p:nvPicPr>
          <p:cNvPr id="22" name="Image 3" descr="preencoded.png">    </p:cNvPr>
          <p:cNvPicPr>
            <a:picLocks noChangeAspect="1"/>
          </p:cNvPicPr>
          <p:nvPr/>
        </p:nvPicPr>
        <p:blipFill>
          <a:blip r:embed="rId4"/>
          <a:stretch>
            <a:fillRect/>
          </a:stretch>
        </p:blipFill>
        <p:spPr>
          <a:xfrm>
            <a:off x="7731984" y="2745029"/>
            <a:ext cx="362102" cy="362102"/>
          </a:xfrm>
          <a:prstGeom prst="rect">
            <a:avLst/>
          </a:prstGeom>
        </p:spPr>
      </p:pic>
      <p:sp>
        <p:nvSpPr>
          <p:cNvPr id="23" name="Text 17"/>
          <p:cNvSpPr txBox="1"/>
          <p:nvPr/>
        </p:nvSpPr>
        <p:spPr>
          <a:xfrm>
            <a:off x="7574707" y="3383280"/>
            <a:ext cx="1567830" cy="41148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USSD</a:t>
            </a:r>
            <a:endParaRPr lang="en-US" sz="1500" dirty="0"/>
          </a:p>
        </p:txBody>
      </p:sp>
      <p:sp>
        <p:nvSpPr>
          <p:cNvPr id="24" name="Text 18"/>
          <p:cNvSpPr txBox="1"/>
          <p:nvPr/>
        </p:nvSpPr>
        <p:spPr>
          <a:xfrm>
            <a:off x="7574707" y="3813048"/>
            <a:ext cx="1567830" cy="1417320"/>
          </a:xfrm>
          <a:prstGeom prst="rect">
            <a:avLst/>
          </a:prstGeom>
          <a:noFill/>
          <a:ln/>
        </p:spPr>
        <p:txBody>
          <a:bodyPr wrap="square" lIns="0" tIns="0" rIns="0" bIns="0" rtlCol="0" anchor="ctr"/>
          <a:lstStyle/>
          <a:p>
            <a:pPr indent="0" marL="0">
              <a:lnSpc>
                <a:spcPct val="108000"/>
              </a:lnSpc>
              <a:buNone/>
            </a:pPr>
            <a:r>
              <a:rPr lang="en-US" sz="1150" dirty="0">
                <a:solidFill>
                  <a:srgbClr val="9BA79B"/>
                </a:solidFill>
                <a:latin typeface="Calibri" pitchFamily="34" charset="0"/>
                <a:ea typeface="Calibri" pitchFamily="34" charset="-122"/>
                <a:cs typeface="Calibri" pitchFamily="34" charset="-120"/>
              </a:rPr>
              <a:t>Composez un code court — tout téléphone, sans internet.</a:t>
            </a:r>
            <a:endParaRPr lang="en-US" sz="1150" dirty="0"/>
          </a:p>
        </p:txBody>
      </p:sp>
      <p:sp>
        <p:nvSpPr>
          <p:cNvPr id="25" name="Shape 19"/>
          <p:cNvSpPr/>
          <p:nvPr/>
        </p:nvSpPr>
        <p:spPr>
          <a:xfrm>
            <a:off x="9618025" y="2331720"/>
            <a:ext cx="2006742" cy="3017520"/>
          </a:xfrm>
          <a:prstGeom prst="roundRect">
            <a:avLst>
              <a:gd name="adj" fmla="val 5012"/>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6" name="Shape 20"/>
          <p:cNvSpPr/>
          <p:nvPr/>
        </p:nvSpPr>
        <p:spPr>
          <a:xfrm>
            <a:off x="9874057" y="2624328"/>
            <a:ext cx="603504" cy="603504"/>
          </a:xfrm>
          <a:prstGeom prst="roundRect">
            <a:avLst>
              <a:gd name="adj" fmla="val 15152"/>
            </a:avLst>
          </a:prstGeom>
          <a:solidFill>
            <a:srgbClr val="17392E"/>
          </a:solidFill>
          <a:ln w="12700">
            <a:solidFill>
              <a:srgbClr val="E8A11F"/>
            </a:solidFill>
            <a:prstDash val="solid"/>
          </a:ln>
        </p:spPr>
      </p:sp>
      <p:pic>
        <p:nvPicPr>
          <p:cNvPr id="27" name="Image 4" descr="preencoded.png">    </p:cNvPr>
          <p:cNvPicPr>
            <a:picLocks noChangeAspect="1"/>
          </p:cNvPicPr>
          <p:nvPr/>
        </p:nvPicPr>
        <p:blipFill>
          <a:blip r:embed="rId5"/>
          <a:stretch>
            <a:fillRect/>
          </a:stretch>
        </p:blipFill>
        <p:spPr>
          <a:xfrm>
            <a:off x="9994758" y="2745029"/>
            <a:ext cx="362102" cy="362102"/>
          </a:xfrm>
          <a:prstGeom prst="rect">
            <a:avLst/>
          </a:prstGeom>
        </p:spPr>
      </p:pic>
      <p:sp>
        <p:nvSpPr>
          <p:cNvPr id="28" name="Text 21"/>
          <p:cNvSpPr txBox="1"/>
          <p:nvPr/>
        </p:nvSpPr>
        <p:spPr>
          <a:xfrm>
            <a:off x="9837481" y="3383280"/>
            <a:ext cx="1567830" cy="41148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SMS entrant</a:t>
            </a:r>
            <a:endParaRPr lang="en-US" sz="1500" dirty="0"/>
          </a:p>
        </p:txBody>
      </p:sp>
      <p:sp>
        <p:nvSpPr>
          <p:cNvPr id="29" name="Text 22"/>
          <p:cNvSpPr txBox="1"/>
          <p:nvPr/>
        </p:nvSpPr>
        <p:spPr>
          <a:xfrm>
            <a:off x="9837481" y="3813048"/>
            <a:ext cx="1567830" cy="1417320"/>
          </a:xfrm>
          <a:prstGeom prst="rect">
            <a:avLst/>
          </a:prstGeom>
          <a:noFill/>
          <a:ln/>
        </p:spPr>
        <p:txBody>
          <a:bodyPr wrap="square" lIns="0" tIns="0" rIns="0" bIns="0" rtlCol="0" anchor="ctr"/>
          <a:lstStyle/>
          <a:p>
            <a:pPr indent="0" marL="0">
              <a:lnSpc>
                <a:spcPct val="108000"/>
              </a:lnSpc>
              <a:buNone/>
            </a:pPr>
            <a:r>
              <a:rPr lang="en-US" sz="1150" dirty="0">
                <a:solidFill>
                  <a:srgbClr val="9BA79B"/>
                </a:solidFill>
                <a:latin typeface="Calibri" pitchFamily="34" charset="0"/>
                <a:ea typeface="Calibri" pitchFamily="34" charset="-122"/>
                <a:cs typeface="Calibri" pitchFamily="34" charset="-120"/>
              </a:rPr>
              <a:t>Envoyez le code (ou transférez le SMS) pour vérifier.</a:t>
            </a:r>
            <a:endParaRPr lang="en-US" sz="1150" dirty="0"/>
          </a:p>
        </p:txBody>
      </p:sp>
      <p:sp>
        <p:nvSpPr>
          <p:cNvPr id="30" name="Text 23"/>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ANTI-FRAUDE, PAR CONCEPTION</a:t>
            </a:r>
            <a:endParaRPr lang="en-US" sz="1150" dirty="0"/>
          </a:p>
        </p:txBody>
      </p:sp>
      <p:sp>
        <p:nvSpPr>
          <p:cNvPr id="3" name="Text 1"/>
          <p:cNvSpPr txBox="1"/>
          <p:nvPr/>
        </p:nvSpPr>
        <p:spPr>
          <a:xfrm>
            <a:off x="566928" y="960120"/>
            <a:ext cx="9144000" cy="731520"/>
          </a:xfrm>
          <a:prstGeom prst="rect">
            <a:avLst/>
          </a:prstGeom>
          <a:noFill/>
          <a:ln/>
        </p:spPr>
        <p:txBody>
          <a:bodyPr wrap="square" lIns="0" tIns="0" rIns="0" bIns="0" rtlCol="0" anchor="ctr"/>
          <a:lstStyle/>
          <a:p>
            <a:pPr indent="0" marL="0">
              <a:buNone/>
            </a:pPr>
            <a:r>
              <a:rPr lang="en-US" sz="3800" b="1" dirty="0">
                <a:solidFill>
                  <a:srgbClr val="E9E4D5"/>
                </a:solidFill>
                <a:latin typeface="Arial" pitchFamily="34" charset="0"/>
                <a:ea typeface="Arial" pitchFamily="34" charset="-122"/>
                <a:cs typeface="Arial" pitchFamily="34" charset="-120"/>
              </a:rPr>
              <a:t>Conçu pour qu’on lui mente.</a:t>
            </a:r>
            <a:endParaRPr lang="en-US" sz="3800" dirty="0"/>
          </a:p>
        </p:txBody>
      </p:sp>
      <p:sp>
        <p:nvSpPr>
          <p:cNvPr id="4" name="Text 2"/>
          <p:cNvSpPr txBox="1"/>
          <p:nvPr/>
        </p:nvSpPr>
        <p:spPr>
          <a:xfrm>
            <a:off x="566928" y="1691640"/>
            <a:ext cx="10881360" cy="457200"/>
          </a:xfrm>
          <a:prstGeom prst="rect">
            <a:avLst/>
          </a:prstGeom>
          <a:noFill/>
          <a:ln/>
        </p:spPr>
        <p:txBody>
          <a:bodyPr wrap="square" lIns="0" tIns="0" rIns="0" bIns="0" rtlCol="0" anchor="ctr"/>
          <a:lstStyle/>
          <a:p>
            <a:pPr indent="0" marL="0">
              <a:buNone/>
            </a:pPr>
            <a:r>
              <a:rPr lang="en-US" sz="1450" dirty="0">
                <a:solidFill>
                  <a:srgbClr val="9BA79B"/>
                </a:solidFill>
                <a:latin typeface="Calibri" pitchFamily="34" charset="0"/>
                <a:ea typeface="Calibri" pitchFamily="34" charset="-122"/>
                <a:cs typeface="Calibri" pitchFamily="34" charset="-120"/>
              </a:rPr>
              <a:t>La vérité vient du côté commerçant, émise par l’opérateur — jamais de ce que l’acheteur peut taper ou modifier.</a:t>
            </a:r>
            <a:endParaRPr lang="en-US" sz="1450" dirty="0"/>
          </a:p>
        </p:txBody>
      </p:sp>
      <p:sp>
        <p:nvSpPr>
          <p:cNvPr id="5" name="Shape 3"/>
          <p:cNvSpPr/>
          <p:nvPr/>
        </p:nvSpPr>
        <p:spPr>
          <a:xfrm>
            <a:off x="566928" y="2286000"/>
            <a:ext cx="5349240" cy="1463040"/>
          </a:xfrm>
          <a:prstGeom prst="roundRect">
            <a:avLst>
              <a:gd name="adj" fmla="val 687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6" name="Shape 4"/>
          <p:cNvSpPr/>
          <p:nvPr/>
        </p:nvSpPr>
        <p:spPr>
          <a:xfrm>
            <a:off x="822960" y="2560320"/>
            <a:ext cx="548640" cy="548640"/>
          </a:xfrm>
          <a:prstGeom prst="roundRect">
            <a:avLst>
              <a:gd name="adj" fmla="val 16667"/>
            </a:avLst>
          </a:prstGeom>
          <a:solidFill>
            <a:srgbClr val="17392E"/>
          </a:solidFill>
          <a:ln w="12700">
            <a:solidFill>
              <a:srgbClr val="E8A11F"/>
            </a:solidFill>
            <a:prstDash val="solid"/>
          </a:ln>
        </p:spPr>
      </p:sp>
      <p:pic>
        <p:nvPicPr>
          <p:cNvPr id="7" name="Image 0" descr="preencoded.png">    </p:cNvPr>
          <p:cNvPicPr>
            <a:picLocks noChangeAspect="1"/>
          </p:cNvPicPr>
          <p:nvPr/>
        </p:nvPicPr>
        <p:blipFill>
          <a:blip r:embed="rId1"/>
          <a:stretch>
            <a:fillRect/>
          </a:stretch>
        </p:blipFill>
        <p:spPr>
          <a:xfrm>
            <a:off x="932688" y="2670048"/>
            <a:ext cx="329184" cy="329184"/>
          </a:xfrm>
          <a:prstGeom prst="rect">
            <a:avLst/>
          </a:prstGeom>
        </p:spPr>
      </p:pic>
      <p:sp>
        <p:nvSpPr>
          <p:cNvPr id="8" name="Text 5"/>
          <p:cNvSpPr txBox="1"/>
          <p:nvPr/>
        </p:nvSpPr>
        <p:spPr>
          <a:xfrm>
            <a:off x="1572768" y="2450592"/>
            <a:ext cx="4206240" cy="36576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À usage unique, pour toujours</a:t>
            </a:r>
            <a:endParaRPr lang="en-US" sz="1500" dirty="0"/>
          </a:p>
        </p:txBody>
      </p:sp>
      <p:sp>
        <p:nvSpPr>
          <p:cNvPr id="9" name="Text 6"/>
          <p:cNvSpPr txBox="1"/>
          <p:nvPr/>
        </p:nvSpPr>
        <p:spPr>
          <a:xfrm>
            <a:off x="1572768" y="2834640"/>
            <a:ext cx="4224528" cy="822960"/>
          </a:xfrm>
          <a:prstGeom prst="rect">
            <a:avLst/>
          </a:prstGeom>
          <a:noFill/>
          <a:ln/>
        </p:spPr>
        <p:txBody>
          <a:bodyPr wrap="square" lIns="0" tIns="0" rIns="0" bIns="0" rtlCol="0" anchor="ctr"/>
          <a:lstStyle/>
          <a:p>
            <a:pPr indent="0" marL="0">
              <a:lnSpc>
                <a:spcPct val="106000"/>
              </a:lnSpc>
              <a:buNone/>
            </a:pPr>
            <a:r>
              <a:rPr lang="en-US" sz="1180" dirty="0">
                <a:solidFill>
                  <a:srgbClr val="9BA79B"/>
                </a:solidFill>
                <a:latin typeface="Calibri" pitchFamily="34" charset="0"/>
                <a:ea typeface="Calibri" pitchFamily="34" charset="-122"/>
                <a:cs typeface="Calibri" pitchFamily="34" charset="-120"/>
              </a:rPr>
              <a:t>Une référence confirme un seul paiement et est verrouillée à vie — les rejeux sont refusés.</a:t>
            </a:r>
            <a:endParaRPr lang="en-US" sz="1180" dirty="0"/>
          </a:p>
        </p:txBody>
      </p:sp>
      <p:sp>
        <p:nvSpPr>
          <p:cNvPr id="10" name="Shape 7"/>
          <p:cNvSpPr/>
          <p:nvPr/>
        </p:nvSpPr>
        <p:spPr>
          <a:xfrm>
            <a:off x="6144768" y="2286000"/>
            <a:ext cx="5349240" cy="1463040"/>
          </a:xfrm>
          <a:prstGeom prst="roundRect">
            <a:avLst>
              <a:gd name="adj" fmla="val 687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1" name="Shape 8"/>
          <p:cNvSpPr/>
          <p:nvPr/>
        </p:nvSpPr>
        <p:spPr>
          <a:xfrm>
            <a:off x="6400800" y="2560320"/>
            <a:ext cx="548640" cy="548640"/>
          </a:xfrm>
          <a:prstGeom prst="roundRect">
            <a:avLst>
              <a:gd name="adj" fmla="val 16667"/>
            </a:avLst>
          </a:prstGeom>
          <a:solidFill>
            <a:srgbClr val="17392E"/>
          </a:solidFill>
          <a:ln w="12700">
            <a:solidFill>
              <a:srgbClr val="E8A11F"/>
            </a:solidFill>
            <a:prstDash val="solid"/>
          </a:ln>
        </p:spPr>
      </p:sp>
      <p:pic>
        <p:nvPicPr>
          <p:cNvPr id="12" name="Image 1" descr="preencoded.png">    </p:cNvPr>
          <p:cNvPicPr>
            <a:picLocks noChangeAspect="1"/>
          </p:cNvPicPr>
          <p:nvPr/>
        </p:nvPicPr>
        <p:blipFill>
          <a:blip r:embed="rId2"/>
          <a:stretch>
            <a:fillRect/>
          </a:stretch>
        </p:blipFill>
        <p:spPr>
          <a:xfrm>
            <a:off x="6510528" y="2670048"/>
            <a:ext cx="329184" cy="329184"/>
          </a:xfrm>
          <a:prstGeom prst="rect">
            <a:avLst/>
          </a:prstGeom>
        </p:spPr>
      </p:pic>
      <p:sp>
        <p:nvSpPr>
          <p:cNvPr id="13" name="Text 9"/>
          <p:cNvSpPr txBox="1"/>
          <p:nvPr/>
        </p:nvSpPr>
        <p:spPr>
          <a:xfrm>
            <a:off x="7150608" y="2450592"/>
            <a:ext cx="4206240" cy="36576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Test anti-falsification (chaîne de solde)</a:t>
            </a:r>
            <a:endParaRPr lang="en-US" sz="1500" dirty="0"/>
          </a:p>
        </p:txBody>
      </p:sp>
      <p:sp>
        <p:nvSpPr>
          <p:cNvPr id="14" name="Text 10"/>
          <p:cNvSpPr txBox="1"/>
          <p:nvPr/>
        </p:nvSpPr>
        <p:spPr>
          <a:xfrm>
            <a:off x="7150608" y="2834640"/>
            <a:ext cx="4224528" cy="822960"/>
          </a:xfrm>
          <a:prstGeom prst="rect">
            <a:avLst/>
          </a:prstGeom>
          <a:noFill/>
          <a:ln/>
        </p:spPr>
        <p:txBody>
          <a:bodyPr wrap="square" lIns="0" tIns="0" rIns="0" bIns="0" rtlCol="0" anchor="ctr"/>
          <a:lstStyle/>
          <a:p>
            <a:pPr indent="0" marL="0">
              <a:lnSpc>
                <a:spcPct val="106000"/>
              </a:lnSpc>
              <a:buNone/>
            </a:pPr>
            <a:r>
              <a:rPr lang="en-US" sz="1180" dirty="0">
                <a:solidFill>
                  <a:srgbClr val="9BA79B"/>
                </a:solidFill>
                <a:latin typeface="Calibri" pitchFamily="34" charset="0"/>
                <a:ea typeface="Calibri" pitchFamily="34" charset="-122"/>
                <a:cs typeface="Calibri" pitchFamily="34" charset="-120"/>
              </a:rPr>
              <a:t>Sur les flux appareils, les soldes doivent s’enchaîner — un SMS falsifié brise la chaîne.</a:t>
            </a:r>
            <a:endParaRPr lang="en-US" sz="1180" dirty="0"/>
          </a:p>
        </p:txBody>
      </p:sp>
      <p:sp>
        <p:nvSpPr>
          <p:cNvPr id="15" name="Shape 11"/>
          <p:cNvSpPr/>
          <p:nvPr/>
        </p:nvSpPr>
        <p:spPr>
          <a:xfrm>
            <a:off x="566928" y="3913632"/>
            <a:ext cx="5349240" cy="1463040"/>
          </a:xfrm>
          <a:prstGeom prst="roundRect">
            <a:avLst>
              <a:gd name="adj" fmla="val 687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6" name="Shape 12"/>
          <p:cNvSpPr/>
          <p:nvPr/>
        </p:nvSpPr>
        <p:spPr>
          <a:xfrm>
            <a:off x="822960" y="4187952"/>
            <a:ext cx="548640" cy="548640"/>
          </a:xfrm>
          <a:prstGeom prst="roundRect">
            <a:avLst>
              <a:gd name="adj" fmla="val 16667"/>
            </a:avLst>
          </a:prstGeom>
          <a:solidFill>
            <a:srgbClr val="17392E"/>
          </a:solidFill>
          <a:ln w="12700">
            <a:solidFill>
              <a:srgbClr val="E8A11F"/>
            </a:solidFill>
            <a:prstDash val="solid"/>
          </a:ln>
        </p:spPr>
      </p:sp>
      <p:pic>
        <p:nvPicPr>
          <p:cNvPr id="17" name="Image 2" descr="preencoded.png">    </p:cNvPr>
          <p:cNvPicPr>
            <a:picLocks noChangeAspect="1"/>
          </p:cNvPicPr>
          <p:nvPr/>
        </p:nvPicPr>
        <p:blipFill>
          <a:blip r:embed="rId3"/>
          <a:stretch>
            <a:fillRect/>
          </a:stretch>
        </p:blipFill>
        <p:spPr>
          <a:xfrm>
            <a:off x="932688" y="4297680"/>
            <a:ext cx="329184" cy="329184"/>
          </a:xfrm>
          <a:prstGeom prst="rect">
            <a:avLst/>
          </a:prstGeom>
        </p:spPr>
      </p:pic>
      <p:sp>
        <p:nvSpPr>
          <p:cNvPr id="18" name="Text 13"/>
          <p:cNvSpPr txBox="1"/>
          <p:nvPr/>
        </p:nvSpPr>
        <p:spPr>
          <a:xfrm>
            <a:off x="1572768" y="4078224"/>
            <a:ext cx="4206240" cy="36576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Contrôles montant &amp; devise</a:t>
            </a:r>
            <a:endParaRPr lang="en-US" sz="1500" dirty="0"/>
          </a:p>
        </p:txBody>
      </p:sp>
      <p:sp>
        <p:nvSpPr>
          <p:cNvPr id="19" name="Text 14"/>
          <p:cNvSpPr txBox="1"/>
          <p:nvPr/>
        </p:nvSpPr>
        <p:spPr>
          <a:xfrm>
            <a:off x="1572768" y="4462272"/>
            <a:ext cx="4224528" cy="822960"/>
          </a:xfrm>
          <a:prstGeom prst="rect">
            <a:avLst/>
          </a:prstGeom>
          <a:noFill/>
          <a:ln/>
        </p:spPr>
        <p:txBody>
          <a:bodyPr wrap="square" lIns="0" tIns="0" rIns="0" bIns="0" rtlCol="0" anchor="ctr"/>
          <a:lstStyle/>
          <a:p>
            <a:pPr indent="0" marL="0">
              <a:lnSpc>
                <a:spcPct val="106000"/>
              </a:lnSpc>
              <a:buNone/>
            </a:pPr>
            <a:r>
              <a:rPr lang="en-US" sz="1180" dirty="0">
                <a:solidFill>
                  <a:srgbClr val="9BA79B"/>
                </a:solidFill>
                <a:latin typeface="Calibri" pitchFamily="34" charset="0"/>
                <a:ea typeface="Calibri" pitchFamily="34" charset="-122"/>
                <a:cs typeface="Calibri" pitchFamily="34" charset="-120"/>
              </a:rPr>
              <a:t>Un code ne passe que si le montant, la devise et la fenêtre correspondent à la commande.</a:t>
            </a:r>
            <a:endParaRPr lang="en-US" sz="1180" dirty="0"/>
          </a:p>
        </p:txBody>
      </p:sp>
      <p:sp>
        <p:nvSpPr>
          <p:cNvPr id="20" name="Shape 15"/>
          <p:cNvSpPr/>
          <p:nvPr/>
        </p:nvSpPr>
        <p:spPr>
          <a:xfrm>
            <a:off x="6144768" y="3913632"/>
            <a:ext cx="5349240" cy="1463040"/>
          </a:xfrm>
          <a:prstGeom prst="roundRect">
            <a:avLst>
              <a:gd name="adj" fmla="val 6875"/>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1" name="Shape 16"/>
          <p:cNvSpPr/>
          <p:nvPr/>
        </p:nvSpPr>
        <p:spPr>
          <a:xfrm>
            <a:off x="6400800" y="4187952"/>
            <a:ext cx="548640" cy="548640"/>
          </a:xfrm>
          <a:prstGeom prst="roundRect">
            <a:avLst>
              <a:gd name="adj" fmla="val 16667"/>
            </a:avLst>
          </a:prstGeom>
          <a:solidFill>
            <a:srgbClr val="17392E"/>
          </a:solidFill>
          <a:ln w="12700">
            <a:solidFill>
              <a:srgbClr val="E8A11F"/>
            </a:solidFill>
            <a:prstDash val="solid"/>
          </a:ln>
        </p:spPr>
      </p:sp>
      <p:pic>
        <p:nvPicPr>
          <p:cNvPr id="22" name="Image 3" descr="preencoded.png">    </p:cNvPr>
          <p:cNvPicPr>
            <a:picLocks noChangeAspect="1"/>
          </p:cNvPicPr>
          <p:nvPr/>
        </p:nvPicPr>
        <p:blipFill>
          <a:blip r:embed="rId4"/>
          <a:stretch>
            <a:fillRect/>
          </a:stretch>
        </p:blipFill>
        <p:spPr>
          <a:xfrm>
            <a:off x="6510528" y="4297680"/>
            <a:ext cx="329184" cy="329184"/>
          </a:xfrm>
          <a:prstGeom prst="rect">
            <a:avLst/>
          </a:prstGeom>
        </p:spPr>
      </p:pic>
      <p:sp>
        <p:nvSpPr>
          <p:cNvPr id="23" name="Text 17"/>
          <p:cNvSpPr txBox="1"/>
          <p:nvPr/>
        </p:nvSpPr>
        <p:spPr>
          <a:xfrm>
            <a:off x="7150608" y="4078224"/>
            <a:ext cx="4206240" cy="365760"/>
          </a:xfrm>
          <a:prstGeom prst="rect">
            <a:avLst/>
          </a:prstGeom>
          <a:noFill/>
          <a:ln/>
        </p:spPr>
        <p:txBody>
          <a:bodyPr wrap="square" lIns="0" tIns="0" rIns="0" bIns="0" rtlCol="0" anchor="ctr"/>
          <a:lstStyle/>
          <a:p>
            <a:pPr indent="0" marL="0">
              <a:buNone/>
            </a:pPr>
            <a:r>
              <a:rPr lang="en-US" sz="1500" b="1" dirty="0">
                <a:solidFill>
                  <a:srgbClr val="F2B944"/>
                </a:solidFill>
                <a:latin typeface="Arial" pitchFamily="34" charset="0"/>
                <a:ea typeface="Arial" pitchFamily="34" charset="-122"/>
                <a:cs typeface="Arial" pitchFamily="34" charset="-120"/>
              </a:rPr>
              <a:t>Trois niveaux de confiance honnêtes</a:t>
            </a:r>
            <a:endParaRPr lang="en-US" sz="1500" dirty="0"/>
          </a:p>
        </p:txBody>
      </p:sp>
      <p:sp>
        <p:nvSpPr>
          <p:cNvPr id="24" name="Text 18"/>
          <p:cNvSpPr txBox="1"/>
          <p:nvPr/>
        </p:nvSpPr>
        <p:spPr>
          <a:xfrm>
            <a:off x="7150608" y="4462272"/>
            <a:ext cx="4224528" cy="822960"/>
          </a:xfrm>
          <a:prstGeom prst="rect">
            <a:avLst/>
          </a:prstGeom>
          <a:noFill/>
          <a:ln/>
        </p:spPr>
        <p:txBody>
          <a:bodyPr wrap="square" lIns="0" tIns="0" rIns="0" bIns="0" rtlCol="0" anchor="ctr"/>
          <a:lstStyle/>
          <a:p>
            <a:pPr indent="0" marL="0">
              <a:lnSpc>
                <a:spcPct val="106000"/>
              </a:lnSpc>
              <a:buNone/>
            </a:pPr>
            <a:r>
              <a:rPr lang="en-US" sz="1180" dirty="0">
                <a:solidFill>
                  <a:srgbClr val="9BA79B"/>
                </a:solidFill>
                <a:latin typeface="Calibri" pitchFamily="34" charset="0"/>
                <a:ea typeface="Calibri" pitchFamily="34" charset="-122"/>
                <a:cs typeface="Calibri" pitchFamily="34" charset="-120"/>
              </a:rPr>
              <a:t>Chaque reçu indique la force de la preuve : auto-déclaré, ancré à l’appareil ou confirmé par l’opérateur.</a:t>
            </a:r>
            <a:endParaRPr lang="en-US" sz="1180" dirty="0"/>
          </a:p>
        </p:txBody>
      </p:sp>
      <p:sp>
        <p:nvSpPr>
          <p:cNvPr id="25" name="Text 19"/>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DF"/>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CE QUE KODA EST — ET N’EST PAS</a:t>
            </a:r>
            <a:endParaRPr lang="en-US" sz="1150" dirty="0"/>
          </a:p>
        </p:txBody>
      </p:sp>
      <p:sp>
        <p:nvSpPr>
          <p:cNvPr id="3" name="Text 1"/>
          <p:cNvSpPr txBox="1"/>
          <p:nvPr/>
        </p:nvSpPr>
        <p:spPr>
          <a:xfrm>
            <a:off x="566928" y="960120"/>
            <a:ext cx="11155680" cy="822960"/>
          </a:xfrm>
          <a:prstGeom prst="rect">
            <a:avLst/>
          </a:prstGeom>
          <a:noFill/>
          <a:ln/>
        </p:spPr>
        <p:txBody>
          <a:bodyPr wrap="square" lIns="0" tIns="0" rIns="0" bIns="0" rtlCol="0" anchor="ctr"/>
          <a:lstStyle/>
          <a:p>
            <a:pPr indent="0" marL="0">
              <a:buNone/>
            </a:pPr>
            <a:r>
              <a:rPr lang="en-US" sz="2800" b="1" dirty="0">
                <a:solidFill>
                  <a:srgbClr val="081813"/>
                </a:solidFill>
                <a:latin typeface="Arial" pitchFamily="34" charset="0"/>
                <a:ea typeface="Arial" pitchFamily="34" charset="-122"/>
                <a:cs typeface="Arial" pitchFamily="34" charset="-120"/>
              </a:rPr>
              <a:t>Nous vérifions vos paiements. Nous ne touchons jamais à votre argent.</a:t>
            </a:r>
            <a:endParaRPr lang="en-US" sz="2800" dirty="0"/>
          </a:p>
        </p:txBody>
      </p:sp>
      <p:sp>
        <p:nvSpPr>
          <p:cNvPr id="4" name="Shape 2"/>
          <p:cNvSpPr/>
          <p:nvPr/>
        </p:nvSpPr>
        <p:spPr>
          <a:xfrm>
            <a:off x="566928" y="2103120"/>
            <a:ext cx="5349240" cy="2057400"/>
          </a:xfrm>
          <a:prstGeom prst="roundRect">
            <a:avLst>
              <a:gd name="adj" fmla="val 4444"/>
            </a:avLst>
          </a:prstGeom>
          <a:solidFill>
            <a:srgbClr val="FFFFFF"/>
          </a:solidFill>
          <a:ln w="12700">
            <a:solidFill>
              <a:srgbClr val="E4DCC6"/>
            </a:solidFill>
            <a:prstDash val="solid"/>
          </a:ln>
        </p:spPr>
      </p:sp>
      <p:sp>
        <p:nvSpPr>
          <p:cNvPr id="5" name="Shape 3"/>
          <p:cNvSpPr/>
          <p:nvPr/>
        </p:nvSpPr>
        <p:spPr>
          <a:xfrm>
            <a:off x="841248" y="2350008"/>
            <a:ext cx="548640" cy="548640"/>
          </a:xfrm>
          <a:prstGeom prst="roundRect">
            <a:avLst>
              <a:gd name="adj" fmla="val 16667"/>
            </a:avLst>
          </a:prstGeom>
          <a:solidFill>
            <a:srgbClr val="081813"/>
          </a:solidFill>
          <a:ln/>
        </p:spPr>
      </p:sp>
      <p:pic>
        <p:nvPicPr>
          <p:cNvPr id="6" name="Image 0" descr="preencoded.png">    </p:cNvPr>
          <p:cNvPicPr>
            <a:picLocks noChangeAspect="1"/>
          </p:cNvPicPr>
          <p:nvPr/>
        </p:nvPicPr>
        <p:blipFill>
          <a:blip r:embed="rId1"/>
          <a:stretch>
            <a:fillRect/>
          </a:stretch>
        </p:blipFill>
        <p:spPr>
          <a:xfrm>
            <a:off x="950976" y="2459736"/>
            <a:ext cx="329184" cy="329184"/>
          </a:xfrm>
          <a:prstGeom prst="rect">
            <a:avLst/>
          </a:prstGeom>
        </p:spPr>
      </p:pic>
      <p:sp>
        <p:nvSpPr>
          <p:cNvPr id="7" name="Text 4"/>
          <p:cNvSpPr txBox="1"/>
          <p:nvPr/>
        </p:nvSpPr>
        <p:spPr>
          <a:xfrm>
            <a:off x="1572768" y="2404872"/>
            <a:ext cx="4114800" cy="365760"/>
          </a:xfrm>
          <a:prstGeom prst="rect">
            <a:avLst/>
          </a:prstGeom>
          <a:noFill/>
          <a:ln/>
        </p:spPr>
        <p:txBody>
          <a:bodyPr wrap="square" lIns="0" tIns="0" rIns="0" bIns="0" rtlCol="0" anchor="ctr"/>
          <a:lstStyle/>
          <a:p>
            <a:pPr indent="0" marL="0">
              <a:buNone/>
            </a:pPr>
            <a:r>
              <a:rPr lang="en-US" sz="1700" b="1" dirty="0">
                <a:solidFill>
                  <a:srgbClr val="081813"/>
                </a:solidFill>
                <a:latin typeface="Arial" pitchFamily="34" charset="0"/>
                <a:ea typeface="Arial" pitchFamily="34" charset="-122"/>
                <a:cs typeface="Arial" pitchFamily="34" charset="-120"/>
              </a:rPr>
              <a:t>KODA EST</a:t>
            </a:r>
            <a:endParaRPr lang="en-US" sz="1700" dirty="0"/>
          </a:p>
        </p:txBody>
      </p:sp>
      <p:sp>
        <p:nvSpPr>
          <p:cNvPr id="8" name="Text 5"/>
          <p:cNvSpPr txBox="1"/>
          <p:nvPr/>
        </p:nvSpPr>
        <p:spPr>
          <a:xfrm>
            <a:off x="859536" y="3017520"/>
            <a:ext cx="4800600" cy="1005840"/>
          </a:xfrm>
          <a:prstGeom prst="rect">
            <a:avLst/>
          </a:prstGeom>
          <a:noFill/>
          <a:ln/>
        </p:spPr>
        <p:txBody>
          <a:bodyPr wrap="square" lIns="0" tIns="0" rIns="0" bIns="0" rtlCol="0" anchor="ctr"/>
          <a:lstStyle/>
          <a:p>
            <a:pPr indent="0" marL="0">
              <a:lnSpc>
                <a:spcPct val="110000"/>
              </a:lnSpc>
              <a:buNone/>
            </a:pPr>
            <a:r>
              <a:rPr lang="en-US" sz="1250" dirty="0">
                <a:solidFill>
                  <a:srgbClr val="46534A"/>
                </a:solidFill>
                <a:latin typeface="Calibri" pitchFamily="34" charset="0"/>
                <a:ea typeface="Calibri" pitchFamily="34" charset="-122"/>
                <a:cs typeface="Calibri" pitchFamily="34" charset="-120"/>
              </a:rPr>
              <a:t>Un service de VÉRIFICATION des paiements. Il lit la confirmation de l’opérateur, la note contre la fraude, la verrouille contre le rejeu, et vous dit en quelques secondes ce qui est réel.</a:t>
            </a:r>
            <a:endParaRPr lang="en-US" sz="1250" dirty="0"/>
          </a:p>
        </p:txBody>
      </p:sp>
      <p:sp>
        <p:nvSpPr>
          <p:cNvPr id="9" name="Shape 6"/>
          <p:cNvSpPr/>
          <p:nvPr/>
        </p:nvSpPr>
        <p:spPr>
          <a:xfrm>
            <a:off x="6281928" y="2103120"/>
            <a:ext cx="5349240" cy="2057400"/>
          </a:xfrm>
          <a:prstGeom prst="roundRect">
            <a:avLst>
              <a:gd name="adj" fmla="val 4444"/>
            </a:avLst>
          </a:prstGeom>
          <a:solidFill>
            <a:srgbClr val="FFFFFF"/>
          </a:solidFill>
          <a:ln w="12700">
            <a:solidFill>
              <a:srgbClr val="E4DCC6"/>
            </a:solidFill>
            <a:prstDash val="solid"/>
          </a:ln>
        </p:spPr>
      </p:sp>
      <p:sp>
        <p:nvSpPr>
          <p:cNvPr id="10" name="Shape 7"/>
          <p:cNvSpPr/>
          <p:nvPr/>
        </p:nvSpPr>
        <p:spPr>
          <a:xfrm>
            <a:off x="6556248" y="2350008"/>
            <a:ext cx="548640" cy="548640"/>
          </a:xfrm>
          <a:prstGeom prst="roundRect">
            <a:avLst>
              <a:gd name="adj" fmla="val 16667"/>
            </a:avLst>
          </a:prstGeom>
          <a:solidFill>
            <a:srgbClr val="EAE1CB"/>
          </a:solidFill>
          <a:ln/>
        </p:spPr>
      </p:sp>
      <p:pic>
        <p:nvPicPr>
          <p:cNvPr id="11" name="Image 1" descr="preencoded.png">    </p:cNvPr>
          <p:cNvPicPr>
            <a:picLocks noChangeAspect="1"/>
          </p:cNvPicPr>
          <p:nvPr/>
        </p:nvPicPr>
        <p:blipFill>
          <a:blip r:embed="rId2"/>
          <a:stretch>
            <a:fillRect/>
          </a:stretch>
        </p:blipFill>
        <p:spPr>
          <a:xfrm>
            <a:off x="6665976" y="2459736"/>
            <a:ext cx="329184" cy="329184"/>
          </a:xfrm>
          <a:prstGeom prst="rect">
            <a:avLst/>
          </a:prstGeom>
        </p:spPr>
      </p:pic>
      <p:sp>
        <p:nvSpPr>
          <p:cNvPr id="12" name="Text 8"/>
          <p:cNvSpPr txBox="1"/>
          <p:nvPr/>
        </p:nvSpPr>
        <p:spPr>
          <a:xfrm>
            <a:off x="7287768" y="2404872"/>
            <a:ext cx="4114800" cy="365760"/>
          </a:xfrm>
          <a:prstGeom prst="rect">
            <a:avLst/>
          </a:prstGeom>
          <a:noFill/>
          <a:ln/>
        </p:spPr>
        <p:txBody>
          <a:bodyPr wrap="square" lIns="0" tIns="0" rIns="0" bIns="0" rtlCol="0" anchor="ctr"/>
          <a:lstStyle/>
          <a:p>
            <a:pPr indent="0" marL="0">
              <a:buNone/>
            </a:pPr>
            <a:r>
              <a:rPr lang="en-US" sz="1700" b="1" dirty="0">
                <a:solidFill>
                  <a:srgbClr val="6B7A6E"/>
                </a:solidFill>
                <a:latin typeface="Arial" pitchFamily="34" charset="0"/>
                <a:ea typeface="Arial" pitchFamily="34" charset="-122"/>
                <a:cs typeface="Arial" pitchFamily="34" charset="-120"/>
              </a:rPr>
              <a:t>KODA N’EST PAS</a:t>
            </a:r>
            <a:endParaRPr lang="en-US" sz="1700" dirty="0"/>
          </a:p>
        </p:txBody>
      </p:sp>
      <p:sp>
        <p:nvSpPr>
          <p:cNvPr id="13" name="Text 9"/>
          <p:cNvSpPr txBox="1"/>
          <p:nvPr/>
        </p:nvSpPr>
        <p:spPr>
          <a:xfrm>
            <a:off x="6574536" y="3017520"/>
            <a:ext cx="4800600" cy="1005840"/>
          </a:xfrm>
          <a:prstGeom prst="rect">
            <a:avLst/>
          </a:prstGeom>
          <a:noFill/>
          <a:ln/>
        </p:spPr>
        <p:txBody>
          <a:bodyPr wrap="square" lIns="0" tIns="0" rIns="0" bIns="0" rtlCol="0" anchor="ctr"/>
          <a:lstStyle/>
          <a:p>
            <a:pPr indent="0" marL="0">
              <a:lnSpc>
                <a:spcPct val="110000"/>
              </a:lnSpc>
              <a:buNone/>
            </a:pPr>
            <a:r>
              <a:rPr lang="en-US" sz="1250" dirty="0">
                <a:solidFill>
                  <a:srgbClr val="46534A"/>
                </a:solidFill>
                <a:latin typeface="Calibri" pitchFamily="34" charset="0"/>
                <a:ea typeface="Calibri" pitchFamily="34" charset="-122"/>
                <a:cs typeface="Calibri" pitchFamily="34" charset="-120"/>
              </a:rPr>
              <a:t>Une banque, un portefeuille, un processeur de paiement, un agrégateur, un séquestre ou un émetteur de monnaie. Il ne détient, ne déplace ni ne règle jamais de fonds.</a:t>
            </a:r>
            <a:endParaRPr lang="en-US" sz="1250" dirty="0"/>
          </a:p>
        </p:txBody>
      </p:sp>
      <p:sp>
        <p:nvSpPr>
          <p:cNvPr id="14" name="Text 10"/>
          <p:cNvSpPr txBox="1"/>
          <p:nvPr/>
        </p:nvSpPr>
        <p:spPr>
          <a:xfrm>
            <a:off x="566928" y="4370832"/>
            <a:ext cx="11057839" cy="1280160"/>
          </a:xfrm>
          <a:prstGeom prst="rect">
            <a:avLst/>
          </a:prstGeom>
          <a:noFill/>
          <a:ln/>
        </p:spPr>
        <p:txBody>
          <a:bodyPr wrap="square" lIns="0" tIns="0" rIns="0" bIns="0" rtlCol="0" anchor="ctr"/>
          <a:lstStyle/>
          <a:p>
            <a:pPr indent="0" marL="0">
              <a:lnSpc>
                <a:spcPct val="116000"/>
              </a:lnSpc>
              <a:buNone/>
            </a:pPr>
            <a:r>
              <a:rPr lang="en-US" sz="1250" b="1" dirty="0">
                <a:solidFill>
                  <a:srgbClr val="081813"/>
                </a:solidFill>
                <a:latin typeface="Calibri" pitchFamily="34" charset="0"/>
                <a:ea typeface="Calibri" pitchFamily="34" charset="-122"/>
                <a:cs typeface="Calibri" pitchFamily="34" charset="-120"/>
              </a:rPr>
              <a:t>Votre argent va directement du client à vous, sur le réseau propre de l’opérateur. </a:t>
            </a:r>
            <a:pPr indent="0" marL="0">
              <a:lnSpc>
                <a:spcPct val="116000"/>
              </a:lnSpc>
              <a:buNone/>
            </a:pPr>
            <a:r>
              <a:rPr lang="en-US" sz="1250" dirty="0">
                <a:solidFill>
                  <a:srgbClr val="5A6A5E"/>
                </a:solidFill>
                <a:latin typeface="Calibri" pitchFamily="34" charset="0"/>
                <a:ea typeface="Calibri" pitchFamily="34" charset="-122"/>
                <a:cs typeface="Calibri" pitchFamily="34" charset="-120"/>
              </a:rPr>
              <a:t>La vérification repose sur les confirmations opérateur côté commerçant — notée contre la fraude et protégée contre le rejeu — mais ne garantit pas contre les annulations côté opérateur ni ne constitue une preuve de règlement. KODA vous informe en premier.</a:t>
            </a:r>
            <a:endParaRPr lang="en-US" sz="1250" dirty="0"/>
          </a:p>
        </p:txBody>
      </p:sp>
      <p:sp>
        <p:nvSpPr>
          <p:cNvPr id="15" name="Text 11"/>
          <p:cNvSpPr txBox="1"/>
          <p:nvPr/>
        </p:nvSpPr>
        <p:spPr>
          <a:xfrm>
            <a:off x="566928" y="6400800"/>
            <a:ext cx="11057839" cy="274320"/>
          </a:xfrm>
          <a:prstGeom prst="rect">
            <a:avLst/>
          </a:prstGeom>
          <a:noFill/>
          <a:ln/>
        </p:spPr>
        <p:txBody>
          <a:bodyPr wrap="square" lIns="0" tIns="0" rIns="0" bIns="0" rtlCol="0" anchor="ctr"/>
          <a:lstStyle/>
          <a:p>
            <a:pPr indent="0" marL="0">
              <a:buNone/>
            </a:pPr>
            <a:r>
              <a:rPr lang="en-US" sz="950" dirty="0">
                <a:solidFill>
                  <a:srgbClr val="8A968C"/>
                </a:solidFill>
                <a:latin typeface="Courier New" pitchFamily="34" charset="0"/>
                <a:ea typeface="Courier New" pitchFamily="34" charset="-122"/>
                <a:cs typeface="Courier New" pitchFamily="34" charset="-120"/>
              </a:rPr>
              <a:t>kodajnn.com   ·   Groupe Nseya Digital  ·  Kinshasa, RD Congo</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MONDIAL PAR CONCEPTION</a:t>
            </a:r>
            <a:endParaRPr lang="en-US" sz="1150" dirty="0"/>
          </a:p>
        </p:txBody>
      </p:sp>
      <p:sp>
        <p:nvSpPr>
          <p:cNvPr id="3" name="Text 1"/>
          <p:cNvSpPr txBox="1"/>
          <p:nvPr/>
        </p:nvSpPr>
        <p:spPr>
          <a:xfrm>
            <a:off x="566928" y="960120"/>
            <a:ext cx="11064240" cy="640080"/>
          </a:xfrm>
          <a:prstGeom prst="rect">
            <a:avLst/>
          </a:prstGeom>
          <a:noFill/>
          <a:ln/>
        </p:spPr>
        <p:txBody>
          <a:bodyPr wrap="square" lIns="0" tIns="0" rIns="0" bIns="0" rtlCol="0" anchor="ctr"/>
          <a:lstStyle/>
          <a:p>
            <a:pPr indent="0" marL="0">
              <a:buNone/>
            </a:pPr>
            <a:r>
              <a:rPr lang="en-US" sz="2900" b="1" dirty="0">
                <a:solidFill>
                  <a:srgbClr val="E9E4D5"/>
                </a:solidFill>
                <a:latin typeface="Arial" pitchFamily="34" charset="0"/>
                <a:ea typeface="Arial" pitchFamily="34" charset="-122"/>
                <a:cs typeface="Arial" pitchFamily="34" charset="-120"/>
              </a:rPr>
              <a:t>La couverture est une carte d’analyse — pas une pile de contrats.</a:t>
            </a:r>
            <a:endParaRPr lang="en-US" sz="2900" dirty="0"/>
          </a:p>
        </p:txBody>
      </p:sp>
      <p:sp>
        <p:nvSpPr>
          <p:cNvPr id="4" name="Shape 2"/>
          <p:cNvSpPr/>
          <p:nvPr/>
        </p:nvSpPr>
        <p:spPr>
          <a:xfrm>
            <a:off x="566928" y="2148840"/>
            <a:ext cx="2558720" cy="1737360"/>
          </a:xfrm>
          <a:prstGeom prst="roundRect">
            <a:avLst>
              <a:gd name="adj" fmla="val 578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5" name="Text 3"/>
          <p:cNvSpPr txBox="1"/>
          <p:nvPr/>
        </p:nvSpPr>
        <p:spPr>
          <a:xfrm>
            <a:off x="658368" y="2377440"/>
            <a:ext cx="2375840" cy="868680"/>
          </a:xfrm>
          <a:prstGeom prst="rect">
            <a:avLst/>
          </a:prstGeom>
          <a:noFill/>
          <a:ln/>
        </p:spPr>
        <p:txBody>
          <a:bodyPr wrap="square" lIns="0" tIns="0" rIns="0" bIns="0" rtlCol="0" anchor="ctr"/>
          <a:lstStyle/>
          <a:p>
            <a:pPr algn="ctr" indent="0" marL="0">
              <a:buNone/>
            </a:pPr>
            <a:r>
              <a:rPr lang="en-US" sz="6000" b="1" dirty="0">
                <a:solidFill>
                  <a:srgbClr val="E8A11F"/>
                </a:solidFill>
                <a:latin typeface="Arial" pitchFamily="34" charset="0"/>
                <a:ea typeface="Arial" pitchFamily="34" charset="-122"/>
                <a:cs typeface="Arial" pitchFamily="34" charset="-120"/>
              </a:rPr>
              <a:t>235</a:t>
            </a:r>
            <a:endParaRPr lang="en-US" sz="6000" dirty="0"/>
          </a:p>
        </p:txBody>
      </p:sp>
      <p:sp>
        <p:nvSpPr>
          <p:cNvPr id="6" name="Text 4"/>
          <p:cNvSpPr txBox="1"/>
          <p:nvPr/>
        </p:nvSpPr>
        <p:spPr>
          <a:xfrm>
            <a:off x="640080" y="3319272"/>
            <a:ext cx="2412416" cy="457200"/>
          </a:xfrm>
          <a:prstGeom prst="rect">
            <a:avLst/>
          </a:prstGeom>
          <a:noFill/>
          <a:ln/>
        </p:spPr>
        <p:txBody>
          <a:bodyPr wrap="square" lIns="0" tIns="0" rIns="0" bIns="0" rtlCol="0" anchor="ctr"/>
          <a:lstStyle/>
          <a:p>
            <a:pPr algn="ctr" indent="0" marL="0">
              <a:buNone/>
            </a:pPr>
            <a:r>
              <a:rPr lang="en-US" sz="1200" dirty="0">
                <a:solidFill>
                  <a:srgbClr val="9BA79B"/>
                </a:solidFill>
                <a:latin typeface="Calibri" pitchFamily="34" charset="0"/>
                <a:ea typeface="Calibri" pitchFamily="34" charset="-122"/>
                <a:cs typeface="Calibri" pitchFamily="34" charset="-120"/>
              </a:rPr>
              <a:t>opérateurs au registre</a:t>
            </a:r>
            <a:endParaRPr lang="en-US" sz="1200" dirty="0"/>
          </a:p>
        </p:txBody>
      </p:sp>
      <p:sp>
        <p:nvSpPr>
          <p:cNvPr id="7" name="Shape 5"/>
          <p:cNvSpPr/>
          <p:nvPr/>
        </p:nvSpPr>
        <p:spPr>
          <a:xfrm>
            <a:off x="3399968" y="2148840"/>
            <a:ext cx="2558720" cy="1737360"/>
          </a:xfrm>
          <a:prstGeom prst="roundRect">
            <a:avLst>
              <a:gd name="adj" fmla="val 578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8" name="Text 6"/>
          <p:cNvSpPr txBox="1"/>
          <p:nvPr/>
        </p:nvSpPr>
        <p:spPr>
          <a:xfrm>
            <a:off x="3491408" y="2377440"/>
            <a:ext cx="2375840" cy="868680"/>
          </a:xfrm>
          <a:prstGeom prst="rect">
            <a:avLst/>
          </a:prstGeom>
          <a:noFill/>
          <a:ln/>
        </p:spPr>
        <p:txBody>
          <a:bodyPr wrap="square" lIns="0" tIns="0" rIns="0" bIns="0" rtlCol="0" anchor="ctr"/>
          <a:lstStyle/>
          <a:p>
            <a:pPr algn="ctr" indent="0" marL="0">
              <a:buNone/>
            </a:pPr>
            <a:r>
              <a:rPr lang="en-US" sz="6000" b="1" dirty="0">
                <a:solidFill>
                  <a:srgbClr val="E8A11F"/>
                </a:solidFill>
                <a:latin typeface="Arial" pitchFamily="34" charset="0"/>
                <a:ea typeface="Arial" pitchFamily="34" charset="-122"/>
                <a:cs typeface="Arial" pitchFamily="34" charset="-120"/>
              </a:rPr>
              <a:t>95</a:t>
            </a:r>
            <a:endParaRPr lang="en-US" sz="6000" dirty="0"/>
          </a:p>
        </p:txBody>
      </p:sp>
      <p:sp>
        <p:nvSpPr>
          <p:cNvPr id="9" name="Text 7"/>
          <p:cNvSpPr txBox="1"/>
          <p:nvPr/>
        </p:nvSpPr>
        <p:spPr>
          <a:xfrm>
            <a:off x="3473120" y="3319272"/>
            <a:ext cx="2412416" cy="457200"/>
          </a:xfrm>
          <a:prstGeom prst="rect">
            <a:avLst/>
          </a:prstGeom>
          <a:noFill/>
          <a:ln/>
        </p:spPr>
        <p:txBody>
          <a:bodyPr wrap="square" lIns="0" tIns="0" rIns="0" bIns="0" rtlCol="0" anchor="ctr"/>
          <a:lstStyle/>
          <a:p>
            <a:pPr algn="ctr" indent="0" marL="0">
              <a:buNone/>
            </a:pPr>
            <a:r>
              <a:rPr lang="en-US" sz="1200" dirty="0">
                <a:solidFill>
                  <a:srgbClr val="9BA79B"/>
                </a:solidFill>
                <a:latin typeface="Calibri" pitchFamily="34" charset="0"/>
                <a:ea typeface="Calibri" pitchFamily="34" charset="-122"/>
                <a:cs typeface="Calibri" pitchFamily="34" charset="-120"/>
              </a:rPr>
              <a:t>pays</a:t>
            </a:r>
            <a:endParaRPr lang="en-US" sz="1200" dirty="0"/>
          </a:p>
        </p:txBody>
      </p:sp>
      <p:sp>
        <p:nvSpPr>
          <p:cNvPr id="10" name="Shape 8"/>
          <p:cNvSpPr/>
          <p:nvPr/>
        </p:nvSpPr>
        <p:spPr>
          <a:xfrm>
            <a:off x="6233008" y="2148840"/>
            <a:ext cx="2558720" cy="1737360"/>
          </a:xfrm>
          <a:prstGeom prst="roundRect">
            <a:avLst>
              <a:gd name="adj" fmla="val 578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1" name="Text 9"/>
          <p:cNvSpPr txBox="1"/>
          <p:nvPr/>
        </p:nvSpPr>
        <p:spPr>
          <a:xfrm>
            <a:off x="6324448" y="2377440"/>
            <a:ext cx="2375840" cy="868680"/>
          </a:xfrm>
          <a:prstGeom prst="rect">
            <a:avLst/>
          </a:prstGeom>
          <a:noFill/>
          <a:ln/>
        </p:spPr>
        <p:txBody>
          <a:bodyPr wrap="square" lIns="0" tIns="0" rIns="0" bIns="0" rtlCol="0" anchor="ctr"/>
          <a:lstStyle/>
          <a:p>
            <a:pPr algn="ctr" indent="0" marL="0">
              <a:buNone/>
            </a:pPr>
            <a:r>
              <a:rPr lang="en-US" sz="6000" b="1" dirty="0">
                <a:solidFill>
                  <a:srgbClr val="E8A11F"/>
                </a:solidFill>
                <a:latin typeface="Arial" pitchFamily="34" charset="0"/>
                <a:ea typeface="Arial" pitchFamily="34" charset="-122"/>
                <a:cs typeface="Arial" pitchFamily="34" charset="-120"/>
              </a:rPr>
              <a:t>12</a:t>
            </a:r>
            <a:endParaRPr lang="en-US" sz="6000" dirty="0"/>
          </a:p>
        </p:txBody>
      </p:sp>
      <p:sp>
        <p:nvSpPr>
          <p:cNvPr id="12" name="Text 10"/>
          <p:cNvSpPr txBox="1"/>
          <p:nvPr/>
        </p:nvSpPr>
        <p:spPr>
          <a:xfrm>
            <a:off x="6306160" y="3319272"/>
            <a:ext cx="2412416" cy="457200"/>
          </a:xfrm>
          <a:prstGeom prst="rect">
            <a:avLst/>
          </a:prstGeom>
          <a:noFill/>
          <a:ln/>
        </p:spPr>
        <p:txBody>
          <a:bodyPr wrap="square" lIns="0" tIns="0" rIns="0" bIns="0" rtlCol="0" anchor="ctr"/>
          <a:lstStyle/>
          <a:p>
            <a:pPr algn="ctr" indent="0" marL="0">
              <a:buNone/>
            </a:pPr>
            <a:r>
              <a:rPr lang="en-US" sz="1200" dirty="0">
                <a:solidFill>
                  <a:srgbClr val="9BA79B"/>
                </a:solidFill>
                <a:latin typeface="Calibri" pitchFamily="34" charset="0"/>
                <a:ea typeface="Calibri" pitchFamily="34" charset="-122"/>
                <a:cs typeface="Calibri" pitchFamily="34" charset="-120"/>
              </a:rPr>
              <a:t>régions du monde</a:t>
            </a:r>
            <a:endParaRPr lang="en-US" sz="1200" dirty="0"/>
          </a:p>
        </p:txBody>
      </p:sp>
      <p:sp>
        <p:nvSpPr>
          <p:cNvPr id="13" name="Shape 11"/>
          <p:cNvSpPr/>
          <p:nvPr/>
        </p:nvSpPr>
        <p:spPr>
          <a:xfrm>
            <a:off x="9066047" y="2148840"/>
            <a:ext cx="2558720" cy="1737360"/>
          </a:xfrm>
          <a:prstGeom prst="roundRect">
            <a:avLst>
              <a:gd name="adj" fmla="val 578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4" name="Text 12"/>
          <p:cNvSpPr txBox="1"/>
          <p:nvPr/>
        </p:nvSpPr>
        <p:spPr>
          <a:xfrm>
            <a:off x="9157487" y="2377440"/>
            <a:ext cx="2375840" cy="868680"/>
          </a:xfrm>
          <a:prstGeom prst="rect">
            <a:avLst/>
          </a:prstGeom>
          <a:noFill/>
          <a:ln/>
        </p:spPr>
        <p:txBody>
          <a:bodyPr wrap="square" lIns="0" tIns="0" rIns="0" bIns="0" rtlCol="0" anchor="ctr"/>
          <a:lstStyle/>
          <a:p>
            <a:pPr algn="ctr" indent="0" marL="0">
              <a:buNone/>
            </a:pPr>
            <a:r>
              <a:rPr lang="en-US" sz="6000" b="1" dirty="0">
                <a:solidFill>
                  <a:srgbClr val="E8A11F"/>
                </a:solidFill>
                <a:latin typeface="Arial" pitchFamily="34" charset="0"/>
                <a:ea typeface="Arial" pitchFamily="34" charset="-122"/>
                <a:cs typeface="Arial" pitchFamily="34" charset="-120"/>
              </a:rPr>
              <a:t>111</a:t>
            </a:r>
            <a:endParaRPr lang="en-US" sz="6000" dirty="0"/>
          </a:p>
        </p:txBody>
      </p:sp>
      <p:sp>
        <p:nvSpPr>
          <p:cNvPr id="15" name="Text 13"/>
          <p:cNvSpPr txBox="1"/>
          <p:nvPr/>
        </p:nvSpPr>
        <p:spPr>
          <a:xfrm>
            <a:off x="9139199" y="3319272"/>
            <a:ext cx="2412416" cy="457200"/>
          </a:xfrm>
          <a:prstGeom prst="rect">
            <a:avLst/>
          </a:prstGeom>
          <a:noFill/>
          <a:ln/>
        </p:spPr>
        <p:txBody>
          <a:bodyPr wrap="square" lIns="0" tIns="0" rIns="0" bIns="0" rtlCol="0" anchor="ctr"/>
          <a:lstStyle/>
          <a:p>
            <a:pPr algn="ctr" indent="0" marL="0">
              <a:buNone/>
            </a:pPr>
            <a:r>
              <a:rPr lang="en-US" sz="1200" dirty="0">
                <a:solidFill>
                  <a:srgbClr val="9BA79B"/>
                </a:solidFill>
                <a:latin typeface="Calibri" pitchFamily="34" charset="0"/>
                <a:ea typeface="Calibri" pitchFamily="34" charset="-122"/>
                <a:cs typeface="Calibri" pitchFamily="34" charset="-120"/>
              </a:rPr>
              <a:t>familles de modèles</a:t>
            </a:r>
            <a:endParaRPr lang="en-US" sz="1200" dirty="0"/>
          </a:p>
        </p:txBody>
      </p:sp>
      <p:sp>
        <p:nvSpPr>
          <p:cNvPr id="16" name="Shape 14"/>
          <p:cNvSpPr/>
          <p:nvPr/>
        </p:nvSpPr>
        <p:spPr>
          <a:xfrm>
            <a:off x="566928" y="4160520"/>
            <a:ext cx="11057839" cy="1600200"/>
          </a:xfrm>
          <a:prstGeom prst="roundRect">
            <a:avLst>
              <a:gd name="adj" fmla="val 6286"/>
            </a:avLst>
          </a:prstGeom>
          <a:solidFill>
            <a:srgbClr val="0C231C"/>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7" name="Text 15"/>
          <p:cNvSpPr txBox="1"/>
          <p:nvPr/>
        </p:nvSpPr>
        <p:spPr>
          <a:xfrm>
            <a:off x="886968" y="4370832"/>
            <a:ext cx="10417759" cy="1188720"/>
          </a:xfrm>
          <a:prstGeom prst="rect">
            <a:avLst/>
          </a:prstGeom>
          <a:noFill/>
          <a:ln/>
        </p:spPr>
        <p:txBody>
          <a:bodyPr wrap="square" lIns="0" tIns="0" rIns="0" bIns="0" rtlCol="0" anchor="ctr"/>
          <a:lstStyle/>
          <a:p>
            <a:pPr indent="0" marL="0">
              <a:lnSpc>
                <a:spcPct val="112000"/>
              </a:lnSpc>
              <a:buNone/>
            </a:pPr>
            <a:r>
              <a:rPr lang="en-US" sz="1350" b="1" dirty="0">
                <a:solidFill>
                  <a:srgbClr val="F2B944"/>
                </a:solidFill>
                <a:latin typeface="Calibri" pitchFamily="34" charset="0"/>
                <a:ea typeface="Calibri" pitchFamily="34" charset="-122"/>
                <a:cs typeface="Calibri" pitchFamily="34" charset="-120"/>
              </a:rPr>
              <a:t>6 packs LIVE ajustés à la main aujourd’hui</a:t>
            </a:r>
            <a:pPr indent="0" marL="0">
              <a:lnSpc>
                <a:spcPct val="112000"/>
              </a:lnSpc>
              <a:buNone/>
            </a:pPr>
            <a:r>
              <a:rPr lang="en-US" sz="1350" dirty="0">
                <a:solidFill>
                  <a:srgbClr val="E9E4D5"/>
                </a:solidFill>
                <a:latin typeface="Calibri" pitchFamily="34" charset="0"/>
                <a:ea typeface="Calibri" pitchFamily="34" charset="-122"/>
                <a:cs typeface="Calibri" pitchFamily="34" charset="-120"/>
              </a:rPr>
              <a:t> et en croissance — vérification automatique, sans intervention. Tout autre opérateur est </a:t>
            </a:r>
            <a:pPr indent="0" marL="0">
              <a:lnSpc>
                <a:spcPct val="112000"/>
              </a:lnSpc>
              <a:buNone/>
            </a:pPr>
            <a:r>
              <a:rPr lang="en-US" sz="1350" b="1" dirty="0">
                <a:solidFill>
                  <a:srgbClr val="F2B944"/>
                </a:solidFill>
                <a:latin typeface="Calibri" pitchFamily="34" charset="0"/>
                <a:ea typeface="Calibri" pitchFamily="34" charset="-122"/>
                <a:cs typeface="Calibri" pitchFamily="34" charset="-120"/>
              </a:rPr>
              <a:t>prêt à l’emploi</a:t>
            </a:r>
            <a:pPr indent="0" marL="0">
              <a:lnSpc>
                <a:spcPct val="112000"/>
              </a:lnSpc>
              <a:buNone/>
            </a:pPr>
            <a:r>
              <a:rPr lang="en-US" sz="1350" dirty="0">
                <a:solidFill>
                  <a:srgbClr val="E9E4D5"/>
                </a:solidFill>
                <a:latin typeface="Calibri" pitchFamily="34" charset="0"/>
                <a:ea typeface="Calibri" pitchFamily="34" charset="-122"/>
                <a:cs typeface="Calibri" pitchFamily="34" charset="-120"/>
              </a:rPr>
              <a:t> : un analyseur générique multilingue structure déjà son SMS à un niveau de confiance moindre jusqu’à la publication d’un pack précis. Rien n’est présenté comme pleinement pris en charge tant que ça ne l’est pas — et aucune API opérateur n’est jamais requise.</a:t>
            </a:r>
            <a:endParaRPr lang="en-US" sz="1350" dirty="0"/>
          </a:p>
        </p:txBody>
      </p:sp>
      <p:sp>
        <p:nvSpPr>
          <p:cNvPr id="18" name="Text 16"/>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231C"/>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LE MODÈLE</a:t>
            </a:r>
            <a:endParaRPr lang="en-US" sz="1150" dirty="0"/>
          </a:p>
        </p:txBody>
      </p:sp>
      <p:sp>
        <p:nvSpPr>
          <p:cNvPr id="3" name="Text 1"/>
          <p:cNvSpPr txBox="1"/>
          <p:nvPr/>
        </p:nvSpPr>
        <p:spPr>
          <a:xfrm>
            <a:off x="566928" y="960120"/>
            <a:ext cx="11064240" cy="640080"/>
          </a:xfrm>
          <a:prstGeom prst="rect">
            <a:avLst/>
          </a:prstGeom>
          <a:noFill/>
          <a:ln/>
        </p:spPr>
        <p:txBody>
          <a:bodyPr wrap="square" lIns="0" tIns="0" rIns="0" bIns="0" rtlCol="0" anchor="ctr"/>
          <a:lstStyle/>
          <a:p>
            <a:pPr indent="0" marL="0">
              <a:buNone/>
            </a:pPr>
            <a:r>
              <a:rPr lang="en-US" sz="2900" b="1" dirty="0">
                <a:solidFill>
                  <a:srgbClr val="E9E4D5"/>
                </a:solidFill>
                <a:latin typeface="Arial" pitchFamily="34" charset="0"/>
                <a:ea typeface="Arial" pitchFamily="34" charset="-122"/>
                <a:cs typeface="Arial" pitchFamily="34" charset="-120"/>
              </a:rPr>
              <a:t>Gratuit jusqu’à ce que votre commerçant soit vraiment payé.</a:t>
            </a:r>
            <a:endParaRPr lang="en-US" sz="2900" dirty="0"/>
          </a:p>
        </p:txBody>
      </p:sp>
      <p:sp>
        <p:nvSpPr>
          <p:cNvPr id="4" name="Shape 2"/>
          <p:cNvSpPr/>
          <p:nvPr/>
        </p:nvSpPr>
        <p:spPr>
          <a:xfrm>
            <a:off x="566928" y="2148840"/>
            <a:ext cx="1660093" cy="2148840"/>
          </a:xfrm>
          <a:prstGeom prst="roundRect">
            <a:avLst>
              <a:gd name="adj" fmla="val 605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5" name="Text 3"/>
          <p:cNvSpPr txBox="1"/>
          <p:nvPr/>
        </p:nvSpPr>
        <p:spPr>
          <a:xfrm>
            <a:off x="612648" y="2368296"/>
            <a:ext cx="1568653" cy="365760"/>
          </a:xfrm>
          <a:prstGeom prst="rect">
            <a:avLst/>
          </a:prstGeom>
          <a:noFill/>
          <a:ln/>
        </p:spPr>
        <p:txBody>
          <a:bodyPr wrap="square" lIns="0" tIns="0" rIns="0" bIns="0" rtlCol="0" anchor="ctr"/>
          <a:lstStyle/>
          <a:p>
            <a:pPr algn="ctr" indent="0" marL="0">
              <a:buNone/>
            </a:pPr>
            <a:r>
              <a:rPr lang="en-US" sz="1350" b="1" dirty="0">
                <a:solidFill>
                  <a:srgbClr val="E9E4D5"/>
                </a:solidFill>
                <a:latin typeface="Arial" pitchFamily="34" charset="0"/>
                <a:ea typeface="Arial" pitchFamily="34" charset="-122"/>
                <a:cs typeface="Arial" pitchFamily="34" charset="-120"/>
              </a:rPr>
              <a:t>Marché</a:t>
            </a:r>
            <a:endParaRPr lang="en-US" sz="1350" dirty="0"/>
          </a:p>
        </p:txBody>
      </p:sp>
      <p:sp>
        <p:nvSpPr>
          <p:cNvPr id="6" name="Text 4"/>
          <p:cNvSpPr txBox="1"/>
          <p:nvPr/>
        </p:nvSpPr>
        <p:spPr>
          <a:xfrm>
            <a:off x="603504" y="2834640"/>
            <a:ext cx="1586941" cy="640080"/>
          </a:xfrm>
          <a:prstGeom prst="rect">
            <a:avLst/>
          </a:prstGeom>
          <a:noFill/>
          <a:ln/>
        </p:spPr>
        <p:txBody>
          <a:bodyPr wrap="square" lIns="0" tIns="0" rIns="0" bIns="0" rtlCol="0" anchor="ctr"/>
          <a:lstStyle/>
          <a:p>
            <a:pPr algn="ctr" indent="0" marL="0">
              <a:buNone/>
            </a:pPr>
            <a:r>
              <a:rPr lang="en-US" sz="2700" b="1" dirty="0">
                <a:solidFill>
                  <a:srgbClr val="E8A11F"/>
                </a:solidFill>
                <a:latin typeface="Arial" pitchFamily="34" charset="0"/>
                <a:ea typeface="Arial" pitchFamily="34" charset="-122"/>
                <a:cs typeface="Arial" pitchFamily="34" charset="-120"/>
              </a:rPr>
              <a:t>$0</a:t>
            </a:r>
            <a:endParaRPr lang="en-US" sz="2700" dirty="0"/>
          </a:p>
        </p:txBody>
      </p:sp>
      <p:sp>
        <p:nvSpPr>
          <p:cNvPr id="7" name="Text 5"/>
          <p:cNvSpPr txBox="1"/>
          <p:nvPr/>
        </p:nvSpPr>
        <p:spPr>
          <a:xfrm>
            <a:off x="621792" y="3566160"/>
            <a:ext cx="1550365" cy="594360"/>
          </a:xfrm>
          <a:prstGeom prst="rect">
            <a:avLst/>
          </a:prstGeom>
          <a:noFill/>
          <a:ln/>
        </p:spPr>
        <p:txBody>
          <a:bodyPr wrap="square" lIns="0" tIns="0" rIns="0" bIns="0" rtlCol="0" anchor="ctr"/>
          <a:lstStyle/>
          <a:p>
            <a:pPr algn="ctr" indent="0" marL="0">
              <a:lnSpc>
                <a:spcPct val="105000"/>
              </a:lnSpc>
              <a:buNone/>
            </a:pPr>
            <a:r>
              <a:rPr lang="en-US" sz="1000" dirty="0">
                <a:solidFill>
                  <a:srgbClr val="9BA79B"/>
                </a:solidFill>
                <a:latin typeface="Calibri" pitchFamily="34" charset="0"/>
                <a:ea typeface="Calibri" pitchFamily="34" charset="-122"/>
                <a:cs typeface="Calibri" pitchFamily="34" charset="-120"/>
              </a:rPr>
              <a:t>10 / mois · à vie</a:t>
            </a:r>
            <a:endParaRPr lang="en-US" sz="1000" dirty="0"/>
          </a:p>
        </p:txBody>
      </p:sp>
      <p:sp>
        <p:nvSpPr>
          <p:cNvPr id="8" name="Shape 6"/>
          <p:cNvSpPr/>
          <p:nvPr/>
        </p:nvSpPr>
        <p:spPr>
          <a:xfrm>
            <a:off x="2446477" y="2148840"/>
            <a:ext cx="1660093" cy="2148840"/>
          </a:xfrm>
          <a:prstGeom prst="roundRect">
            <a:avLst>
              <a:gd name="adj" fmla="val 605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9" name="Text 7"/>
          <p:cNvSpPr txBox="1"/>
          <p:nvPr/>
        </p:nvSpPr>
        <p:spPr>
          <a:xfrm>
            <a:off x="2492197" y="2368296"/>
            <a:ext cx="1568653" cy="365760"/>
          </a:xfrm>
          <a:prstGeom prst="rect">
            <a:avLst/>
          </a:prstGeom>
          <a:noFill/>
          <a:ln/>
        </p:spPr>
        <p:txBody>
          <a:bodyPr wrap="square" lIns="0" tIns="0" rIns="0" bIns="0" rtlCol="0" anchor="ctr"/>
          <a:lstStyle/>
          <a:p>
            <a:pPr algn="ctr" indent="0" marL="0">
              <a:buNone/>
            </a:pPr>
            <a:r>
              <a:rPr lang="en-US" sz="1350" b="1" dirty="0">
                <a:solidFill>
                  <a:srgbClr val="E9E4D5"/>
                </a:solidFill>
                <a:latin typeface="Arial" pitchFamily="34" charset="0"/>
                <a:ea typeface="Arial" pitchFamily="34" charset="-122"/>
                <a:cs typeface="Arial" pitchFamily="34" charset="-120"/>
              </a:rPr>
              <a:t>Boutique</a:t>
            </a:r>
            <a:endParaRPr lang="en-US" sz="1350" dirty="0"/>
          </a:p>
        </p:txBody>
      </p:sp>
      <p:sp>
        <p:nvSpPr>
          <p:cNvPr id="10" name="Text 8"/>
          <p:cNvSpPr txBox="1"/>
          <p:nvPr/>
        </p:nvSpPr>
        <p:spPr>
          <a:xfrm>
            <a:off x="2483053" y="2834640"/>
            <a:ext cx="1586941" cy="640080"/>
          </a:xfrm>
          <a:prstGeom prst="rect">
            <a:avLst/>
          </a:prstGeom>
          <a:noFill/>
          <a:ln/>
        </p:spPr>
        <p:txBody>
          <a:bodyPr wrap="square" lIns="0" tIns="0" rIns="0" bIns="0" rtlCol="0" anchor="ctr"/>
          <a:lstStyle/>
          <a:p>
            <a:pPr algn="ctr" indent="0" marL="0">
              <a:buNone/>
            </a:pPr>
            <a:r>
              <a:rPr lang="en-US" sz="2700" b="1" dirty="0">
                <a:solidFill>
                  <a:srgbClr val="E8A11F"/>
                </a:solidFill>
                <a:latin typeface="Arial" pitchFamily="34" charset="0"/>
                <a:ea typeface="Arial" pitchFamily="34" charset="-122"/>
                <a:cs typeface="Arial" pitchFamily="34" charset="-120"/>
              </a:rPr>
              <a:t>$6</a:t>
            </a:r>
            <a:endParaRPr lang="en-US" sz="2700" dirty="0"/>
          </a:p>
        </p:txBody>
      </p:sp>
      <p:sp>
        <p:nvSpPr>
          <p:cNvPr id="11" name="Text 9"/>
          <p:cNvSpPr txBox="1"/>
          <p:nvPr/>
        </p:nvSpPr>
        <p:spPr>
          <a:xfrm>
            <a:off x="2501341" y="3566160"/>
            <a:ext cx="1550365" cy="594360"/>
          </a:xfrm>
          <a:prstGeom prst="rect">
            <a:avLst/>
          </a:prstGeom>
          <a:noFill/>
          <a:ln/>
        </p:spPr>
        <p:txBody>
          <a:bodyPr wrap="square" lIns="0" tIns="0" rIns="0" bIns="0" rtlCol="0" anchor="ctr"/>
          <a:lstStyle/>
          <a:p>
            <a:pPr algn="ctr" indent="0" marL="0">
              <a:lnSpc>
                <a:spcPct val="105000"/>
              </a:lnSpc>
              <a:buNone/>
            </a:pPr>
            <a:r>
              <a:rPr lang="en-US" sz="1000" dirty="0">
                <a:solidFill>
                  <a:srgbClr val="9BA79B"/>
                </a:solidFill>
                <a:latin typeface="Calibri" pitchFamily="34" charset="0"/>
                <a:ea typeface="Calibri" pitchFamily="34" charset="-122"/>
                <a:cs typeface="Calibri" pitchFamily="34" charset="-120"/>
              </a:rPr>
              <a:t>100 / mois · $0.06</a:t>
            </a:r>
            <a:endParaRPr lang="en-US" sz="1000" dirty="0"/>
          </a:p>
        </p:txBody>
      </p:sp>
      <p:sp>
        <p:nvSpPr>
          <p:cNvPr id="12" name="Shape 10"/>
          <p:cNvSpPr/>
          <p:nvPr/>
        </p:nvSpPr>
        <p:spPr>
          <a:xfrm>
            <a:off x="4326026" y="2148840"/>
            <a:ext cx="1660093" cy="2148840"/>
          </a:xfrm>
          <a:prstGeom prst="roundRect">
            <a:avLst>
              <a:gd name="adj" fmla="val 6059"/>
            </a:avLst>
          </a:prstGeom>
          <a:solidFill>
            <a:srgbClr val="17392E"/>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3" name="Shape 11"/>
          <p:cNvSpPr/>
          <p:nvPr/>
        </p:nvSpPr>
        <p:spPr>
          <a:xfrm>
            <a:off x="4326026" y="2148840"/>
            <a:ext cx="1660093" cy="2148840"/>
          </a:xfrm>
          <a:prstGeom prst="roundRect">
            <a:avLst>
              <a:gd name="adj" fmla="val 6059"/>
            </a:avLst>
          </a:prstGeom>
          <a:ln w="25400">
            <a:solidFill>
              <a:srgbClr val="E8A11F"/>
            </a:solidFill>
            <a:prstDash val="solid"/>
          </a:ln>
        </p:spPr>
      </p:sp>
      <p:sp>
        <p:nvSpPr>
          <p:cNvPr id="14" name="Text 12"/>
          <p:cNvSpPr txBox="1"/>
          <p:nvPr/>
        </p:nvSpPr>
        <p:spPr>
          <a:xfrm>
            <a:off x="4371746" y="2368296"/>
            <a:ext cx="1568653" cy="365760"/>
          </a:xfrm>
          <a:prstGeom prst="rect">
            <a:avLst/>
          </a:prstGeom>
          <a:noFill/>
          <a:ln/>
        </p:spPr>
        <p:txBody>
          <a:bodyPr wrap="square" lIns="0" tIns="0" rIns="0" bIns="0" rtlCol="0" anchor="ctr"/>
          <a:lstStyle/>
          <a:p>
            <a:pPr algn="ctr" indent="0" marL="0">
              <a:buNone/>
            </a:pPr>
            <a:r>
              <a:rPr lang="en-US" sz="1350" b="1" dirty="0">
                <a:solidFill>
                  <a:srgbClr val="E9E4D5"/>
                </a:solidFill>
                <a:latin typeface="Arial" pitchFamily="34" charset="0"/>
                <a:ea typeface="Arial" pitchFamily="34" charset="-122"/>
                <a:cs typeface="Arial" pitchFamily="34" charset="-120"/>
              </a:rPr>
              <a:t>Commerce</a:t>
            </a:r>
            <a:endParaRPr lang="en-US" sz="1350" dirty="0"/>
          </a:p>
        </p:txBody>
      </p:sp>
      <p:sp>
        <p:nvSpPr>
          <p:cNvPr id="15" name="Text 13"/>
          <p:cNvSpPr txBox="1"/>
          <p:nvPr/>
        </p:nvSpPr>
        <p:spPr>
          <a:xfrm>
            <a:off x="4362602" y="2834640"/>
            <a:ext cx="1586941" cy="640080"/>
          </a:xfrm>
          <a:prstGeom prst="rect">
            <a:avLst/>
          </a:prstGeom>
          <a:noFill/>
          <a:ln/>
        </p:spPr>
        <p:txBody>
          <a:bodyPr wrap="square" lIns="0" tIns="0" rIns="0" bIns="0" rtlCol="0" anchor="ctr"/>
          <a:lstStyle/>
          <a:p>
            <a:pPr algn="ctr" indent="0" marL="0">
              <a:buNone/>
            </a:pPr>
            <a:r>
              <a:rPr lang="en-US" sz="2700" b="1" dirty="0">
                <a:solidFill>
                  <a:srgbClr val="E8A11F"/>
                </a:solidFill>
                <a:latin typeface="Arial" pitchFamily="34" charset="0"/>
                <a:ea typeface="Arial" pitchFamily="34" charset="-122"/>
                <a:cs typeface="Arial" pitchFamily="34" charset="-120"/>
              </a:rPr>
              <a:t>$22</a:t>
            </a:r>
            <a:endParaRPr lang="en-US" sz="2700" dirty="0"/>
          </a:p>
        </p:txBody>
      </p:sp>
      <p:sp>
        <p:nvSpPr>
          <p:cNvPr id="16" name="Text 14"/>
          <p:cNvSpPr txBox="1"/>
          <p:nvPr/>
        </p:nvSpPr>
        <p:spPr>
          <a:xfrm>
            <a:off x="4380890" y="3566160"/>
            <a:ext cx="1550365" cy="594360"/>
          </a:xfrm>
          <a:prstGeom prst="rect">
            <a:avLst/>
          </a:prstGeom>
          <a:noFill/>
          <a:ln/>
        </p:spPr>
        <p:txBody>
          <a:bodyPr wrap="square" lIns="0" tIns="0" rIns="0" bIns="0" rtlCol="0" anchor="ctr"/>
          <a:lstStyle/>
          <a:p>
            <a:pPr algn="ctr" indent="0" marL="0">
              <a:lnSpc>
                <a:spcPct val="105000"/>
              </a:lnSpc>
              <a:buNone/>
            </a:pPr>
            <a:r>
              <a:rPr lang="en-US" sz="1000" dirty="0">
                <a:solidFill>
                  <a:srgbClr val="9BA79B"/>
                </a:solidFill>
                <a:latin typeface="Calibri" pitchFamily="34" charset="0"/>
                <a:ea typeface="Calibri" pitchFamily="34" charset="-122"/>
                <a:cs typeface="Calibri" pitchFamily="34" charset="-120"/>
              </a:rPr>
              <a:t>400 / mois · $0.055</a:t>
            </a:r>
            <a:endParaRPr lang="en-US" sz="1000" dirty="0"/>
          </a:p>
        </p:txBody>
      </p:sp>
      <p:sp>
        <p:nvSpPr>
          <p:cNvPr id="17" name="Shape 15"/>
          <p:cNvSpPr/>
          <p:nvPr/>
        </p:nvSpPr>
        <p:spPr>
          <a:xfrm>
            <a:off x="6205576" y="2148840"/>
            <a:ext cx="1660093" cy="2148840"/>
          </a:xfrm>
          <a:prstGeom prst="roundRect">
            <a:avLst>
              <a:gd name="adj" fmla="val 605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8" name="Text 16"/>
          <p:cNvSpPr txBox="1"/>
          <p:nvPr/>
        </p:nvSpPr>
        <p:spPr>
          <a:xfrm>
            <a:off x="6251296" y="2368296"/>
            <a:ext cx="1568653" cy="365760"/>
          </a:xfrm>
          <a:prstGeom prst="rect">
            <a:avLst/>
          </a:prstGeom>
          <a:noFill/>
          <a:ln/>
        </p:spPr>
        <p:txBody>
          <a:bodyPr wrap="square" lIns="0" tIns="0" rIns="0" bIns="0" rtlCol="0" anchor="ctr"/>
          <a:lstStyle/>
          <a:p>
            <a:pPr algn="ctr" indent="0" marL="0">
              <a:buNone/>
            </a:pPr>
            <a:r>
              <a:rPr lang="en-US" sz="1350" b="1" dirty="0">
                <a:solidFill>
                  <a:srgbClr val="E9E4D5"/>
                </a:solidFill>
                <a:latin typeface="Arial" pitchFamily="34" charset="0"/>
                <a:ea typeface="Arial" pitchFamily="34" charset="-122"/>
                <a:cs typeface="Arial" pitchFamily="34" charset="-120"/>
              </a:rPr>
              <a:t>Plateforme</a:t>
            </a:r>
            <a:endParaRPr lang="en-US" sz="1350" dirty="0"/>
          </a:p>
        </p:txBody>
      </p:sp>
      <p:sp>
        <p:nvSpPr>
          <p:cNvPr id="19" name="Text 17"/>
          <p:cNvSpPr txBox="1"/>
          <p:nvPr/>
        </p:nvSpPr>
        <p:spPr>
          <a:xfrm>
            <a:off x="6242152" y="2834640"/>
            <a:ext cx="1586941" cy="640080"/>
          </a:xfrm>
          <a:prstGeom prst="rect">
            <a:avLst/>
          </a:prstGeom>
          <a:noFill/>
          <a:ln/>
        </p:spPr>
        <p:txBody>
          <a:bodyPr wrap="square" lIns="0" tIns="0" rIns="0" bIns="0" rtlCol="0" anchor="ctr"/>
          <a:lstStyle/>
          <a:p>
            <a:pPr algn="ctr" indent="0" marL="0">
              <a:buNone/>
            </a:pPr>
            <a:r>
              <a:rPr lang="en-US" sz="2700" b="1" dirty="0">
                <a:solidFill>
                  <a:srgbClr val="E8A11F"/>
                </a:solidFill>
                <a:latin typeface="Arial" pitchFamily="34" charset="0"/>
                <a:ea typeface="Arial" pitchFamily="34" charset="-122"/>
                <a:cs typeface="Arial" pitchFamily="34" charset="-120"/>
              </a:rPr>
              <a:t>$105</a:t>
            </a:r>
            <a:endParaRPr lang="en-US" sz="2700" dirty="0"/>
          </a:p>
        </p:txBody>
      </p:sp>
      <p:sp>
        <p:nvSpPr>
          <p:cNvPr id="20" name="Text 18"/>
          <p:cNvSpPr txBox="1"/>
          <p:nvPr/>
        </p:nvSpPr>
        <p:spPr>
          <a:xfrm>
            <a:off x="6260440" y="3566160"/>
            <a:ext cx="1550365" cy="594360"/>
          </a:xfrm>
          <a:prstGeom prst="rect">
            <a:avLst/>
          </a:prstGeom>
          <a:noFill/>
          <a:ln/>
        </p:spPr>
        <p:txBody>
          <a:bodyPr wrap="square" lIns="0" tIns="0" rIns="0" bIns="0" rtlCol="0" anchor="ctr"/>
          <a:lstStyle/>
          <a:p>
            <a:pPr algn="ctr" indent="0" marL="0">
              <a:lnSpc>
                <a:spcPct val="105000"/>
              </a:lnSpc>
              <a:buNone/>
            </a:pPr>
            <a:r>
              <a:rPr lang="en-US" sz="1000" dirty="0">
                <a:solidFill>
                  <a:srgbClr val="9BA79B"/>
                </a:solidFill>
                <a:latin typeface="Calibri" pitchFamily="34" charset="0"/>
                <a:ea typeface="Calibri" pitchFamily="34" charset="-122"/>
                <a:cs typeface="Calibri" pitchFamily="34" charset="-120"/>
              </a:rPr>
              <a:t>2 000 / mois · $0.0525</a:t>
            </a:r>
            <a:endParaRPr lang="en-US" sz="1000" dirty="0"/>
          </a:p>
        </p:txBody>
      </p:sp>
      <p:sp>
        <p:nvSpPr>
          <p:cNvPr id="21" name="Shape 19"/>
          <p:cNvSpPr/>
          <p:nvPr/>
        </p:nvSpPr>
        <p:spPr>
          <a:xfrm>
            <a:off x="8085125" y="2148840"/>
            <a:ext cx="1660093" cy="2148840"/>
          </a:xfrm>
          <a:prstGeom prst="roundRect">
            <a:avLst>
              <a:gd name="adj" fmla="val 605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2" name="Text 20"/>
          <p:cNvSpPr txBox="1"/>
          <p:nvPr/>
        </p:nvSpPr>
        <p:spPr>
          <a:xfrm>
            <a:off x="8130845" y="2368296"/>
            <a:ext cx="1568653" cy="365760"/>
          </a:xfrm>
          <a:prstGeom prst="rect">
            <a:avLst/>
          </a:prstGeom>
          <a:noFill/>
          <a:ln/>
        </p:spPr>
        <p:txBody>
          <a:bodyPr wrap="square" lIns="0" tIns="0" rIns="0" bIns="0" rtlCol="0" anchor="ctr"/>
          <a:lstStyle/>
          <a:p>
            <a:pPr algn="ctr" indent="0" marL="0">
              <a:buNone/>
            </a:pPr>
            <a:r>
              <a:rPr lang="en-US" sz="1350" b="1" dirty="0">
                <a:solidFill>
                  <a:srgbClr val="E9E4D5"/>
                </a:solidFill>
                <a:latin typeface="Arial" pitchFamily="34" charset="0"/>
                <a:ea typeface="Arial" pitchFamily="34" charset="-122"/>
                <a:cs typeface="Arial" pitchFamily="34" charset="-120"/>
              </a:rPr>
              <a:t>Scale</a:t>
            </a:r>
            <a:endParaRPr lang="en-US" sz="1350" dirty="0"/>
          </a:p>
        </p:txBody>
      </p:sp>
      <p:sp>
        <p:nvSpPr>
          <p:cNvPr id="23" name="Text 21"/>
          <p:cNvSpPr txBox="1"/>
          <p:nvPr/>
        </p:nvSpPr>
        <p:spPr>
          <a:xfrm>
            <a:off x="8121701" y="2834640"/>
            <a:ext cx="1586941" cy="640080"/>
          </a:xfrm>
          <a:prstGeom prst="rect">
            <a:avLst/>
          </a:prstGeom>
          <a:noFill/>
          <a:ln/>
        </p:spPr>
        <p:txBody>
          <a:bodyPr wrap="square" lIns="0" tIns="0" rIns="0" bIns="0" rtlCol="0" anchor="ctr"/>
          <a:lstStyle/>
          <a:p>
            <a:pPr algn="ctr" indent="0" marL="0">
              <a:buNone/>
            </a:pPr>
            <a:r>
              <a:rPr lang="en-US" sz="2700" b="1" dirty="0">
                <a:solidFill>
                  <a:srgbClr val="E8A11F"/>
                </a:solidFill>
                <a:latin typeface="Arial" pitchFamily="34" charset="0"/>
                <a:ea typeface="Arial" pitchFamily="34" charset="-122"/>
                <a:cs typeface="Arial" pitchFamily="34" charset="-120"/>
              </a:rPr>
              <a:t>$400</a:t>
            </a:r>
            <a:endParaRPr lang="en-US" sz="2700" dirty="0"/>
          </a:p>
        </p:txBody>
      </p:sp>
      <p:sp>
        <p:nvSpPr>
          <p:cNvPr id="24" name="Text 22"/>
          <p:cNvSpPr txBox="1"/>
          <p:nvPr/>
        </p:nvSpPr>
        <p:spPr>
          <a:xfrm>
            <a:off x="8139989" y="3566160"/>
            <a:ext cx="1550365" cy="594360"/>
          </a:xfrm>
          <a:prstGeom prst="rect">
            <a:avLst/>
          </a:prstGeom>
          <a:noFill/>
          <a:ln/>
        </p:spPr>
        <p:txBody>
          <a:bodyPr wrap="square" lIns="0" tIns="0" rIns="0" bIns="0" rtlCol="0" anchor="ctr"/>
          <a:lstStyle/>
          <a:p>
            <a:pPr algn="ctr" indent="0" marL="0">
              <a:lnSpc>
                <a:spcPct val="105000"/>
              </a:lnSpc>
              <a:buNone/>
            </a:pPr>
            <a:r>
              <a:rPr lang="en-US" sz="1000" dirty="0">
                <a:solidFill>
                  <a:srgbClr val="9BA79B"/>
                </a:solidFill>
                <a:latin typeface="Calibri" pitchFamily="34" charset="0"/>
                <a:ea typeface="Calibri" pitchFamily="34" charset="-122"/>
                <a:cs typeface="Calibri" pitchFamily="34" charset="-120"/>
              </a:rPr>
              <a:t>8 000 / mois · $0.05</a:t>
            </a:r>
            <a:endParaRPr lang="en-US" sz="1000" dirty="0"/>
          </a:p>
        </p:txBody>
      </p:sp>
      <p:sp>
        <p:nvSpPr>
          <p:cNvPr id="25" name="Shape 23"/>
          <p:cNvSpPr/>
          <p:nvPr/>
        </p:nvSpPr>
        <p:spPr>
          <a:xfrm>
            <a:off x="9964674" y="2148840"/>
            <a:ext cx="1660093" cy="2148840"/>
          </a:xfrm>
          <a:prstGeom prst="roundRect">
            <a:avLst>
              <a:gd name="adj" fmla="val 6059"/>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26" name="Text 24"/>
          <p:cNvSpPr txBox="1"/>
          <p:nvPr/>
        </p:nvSpPr>
        <p:spPr>
          <a:xfrm>
            <a:off x="10010394" y="2368296"/>
            <a:ext cx="1568653" cy="365760"/>
          </a:xfrm>
          <a:prstGeom prst="rect">
            <a:avLst/>
          </a:prstGeom>
          <a:noFill/>
          <a:ln/>
        </p:spPr>
        <p:txBody>
          <a:bodyPr wrap="square" lIns="0" tIns="0" rIns="0" bIns="0" rtlCol="0" anchor="ctr"/>
          <a:lstStyle/>
          <a:p>
            <a:pPr algn="ctr" indent="0" marL="0">
              <a:buNone/>
            </a:pPr>
            <a:r>
              <a:rPr lang="en-US" sz="1350" b="1" dirty="0">
                <a:solidFill>
                  <a:srgbClr val="E9E4D5"/>
                </a:solidFill>
                <a:latin typeface="Arial" pitchFamily="34" charset="0"/>
                <a:ea typeface="Arial" pitchFamily="34" charset="-122"/>
                <a:cs typeface="Arial" pitchFamily="34" charset="-120"/>
              </a:rPr>
              <a:t>Entreprise</a:t>
            </a:r>
            <a:endParaRPr lang="en-US" sz="1350" dirty="0"/>
          </a:p>
        </p:txBody>
      </p:sp>
      <p:sp>
        <p:nvSpPr>
          <p:cNvPr id="27" name="Text 25"/>
          <p:cNvSpPr txBox="1"/>
          <p:nvPr/>
        </p:nvSpPr>
        <p:spPr>
          <a:xfrm>
            <a:off x="10001250" y="2834640"/>
            <a:ext cx="1586941" cy="640080"/>
          </a:xfrm>
          <a:prstGeom prst="rect">
            <a:avLst/>
          </a:prstGeom>
          <a:noFill/>
          <a:ln/>
        </p:spPr>
        <p:txBody>
          <a:bodyPr wrap="square" lIns="0" tIns="0" rIns="0" bIns="0" rtlCol="0" anchor="ctr"/>
          <a:lstStyle/>
          <a:p>
            <a:pPr algn="ctr" indent="0" marL="0">
              <a:buNone/>
            </a:pPr>
            <a:r>
              <a:rPr lang="en-US" sz="1500" b="1" dirty="0">
                <a:solidFill>
                  <a:srgbClr val="E8A11F"/>
                </a:solidFill>
                <a:latin typeface="Arial" pitchFamily="34" charset="0"/>
                <a:ea typeface="Arial" pitchFamily="34" charset="-122"/>
                <a:cs typeface="Arial" pitchFamily="34" charset="-120"/>
              </a:rPr>
              <a:t>Sur mesure</a:t>
            </a:r>
            <a:endParaRPr lang="en-US" sz="1500" dirty="0"/>
          </a:p>
        </p:txBody>
      </p:sp>
      <p:sp>
        <p:nvSpPr>
          <p:cNvPr id="28" name="Text 26"/>
          <p:cNvSpPr txBox="1"/>
          <p:nvPr/>
        </p:nvSpPr>
        <p:spPr>
          <a:xfrm>
            <a:off x="10019538" y="3566160"/>
            <a:ext cx="1550365" cy="594360"/>
          </a:xfrm>
          <a:prstGeom prst="rect">
            <a:avLst/>
          </a:prstGeom>
          <a:noFill/>
          <a:ln/>
        </p:spPr>
        <p:txBody>
          <a:bodyPr wrap="square" lIns="0" tIns="0" rIns="0" bIns="0" rtlCol="0" anchor="ctr"/>
          <a:lstStyle/>
          <a:p>
            <a:pPr algn="ctr" indent="0" marL="0">
              <a:lnSpc>
                <a:spcPct val="105000"/>
              </a:lnSpc>
              <a:buNone/>
            </a:pPr>
            <a:r>
              <a:rPr lang="en-US" sz="1000" dirty="0">
                <a:solidFill>
                  <a:srgbClr val="9BA79B"/>
                </a:solidFill>
                <a:latin typeface="Calibri" pitchFamily="34" charset="0"/>
                <a:ea typeface="Calibri" pitchFamily="34" charset="-122"/>
                <a:cs typeface="Calibri" pitchFamily="34" charset="-120"/>
              </a:rPr>
              <a:t>volume engagé</a:t>
            </a:r>
            <a:endParaRPr lang="en-US" sz="1000" dirty="0"/>
          </a:p>
        </p:txBody>
      </p:sp>
      <p:sp>
        <p:nvSpPr>
          <p:cNvPr id="29" name="Shape 27"/>
          <p:cNvSpPr/>
          <p:nvPr/>
        </p:nvSpPr>
        <p:spPr>
          <a:xfrm>
            <a:off x="566928" y="4663440"/>
            <a:ext cx="11057839" cy="1097280"/>
          </a:xfrm>
          <a:prstGeom prst="roundRect">
            <a:avLst>
              <a:gd name="adj" fmla="val 9167"/>
            </a:avLst>
          </a:prstGeom>
          <a:solidFill>
            <a:srgbClr val="081813"/>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30" name="Text 28"/>
          <p:cNvSpPr txBox="1"/>
          <p:nvPr/>
        </p:nvSpPr>
        <p:spPr>
          <a:xfrm>
            <a:off x="886968" y="4828032"/>
            <a:ext cx="10417759" cy="822960"/>
          </a:xfrm>
          <a:prstGeom prst="rect">
            <a:avLst/>
          </a:prstGeom>
          <a:noFill/>
          <a:ln/>
        </p:spPr>
        <p:txBody>
          <a:bodyPr wrap="square" lIns="0" tIns="0" rIns="0" bIns="0" rtlCol="0" anchor="ctr"/>
          <a:lstStyle/>
          <a:p>
            <a:pPr indent="0" marL="0">
              <a:lnSpc>
                <a:spcPct val="108000"/>
              </a:lnSpc>
              <a:buNone/>
            </a:pPr>
            <a:r>
              <a:rPr lang="en-US" sz="1200" b="1" i="1" dirty="0">
                <a:solidFill>
                  <a:srgbClr val="F2B944"/>
                </a:solidFill>
                <a:latin typeface="Calibri" pitchFamily="34" charset="0"/>
                <a:ea typeface="Calibri" pitchFamily="34" charset="-122"/>
                <a:cs typeface="Calibri" pitchFamily="34" charset="-120"/>
              </a:rPr>
              <a:t>« Payez seulement quand votre commerçant est payé. »  </a:t>
            </a:r>
            <a:pPr indent="0" marL="0">
              <a:lnSpc>
                <a:spcPct val="108000"/>
              </a:lnSpc>
              <a:buNone/>
            </a:pPr>
            <a:r>
              <a:rPr lang="en-US" sz="1200" dirty="0">
                <a:solidFill>
                  <a:srgbClr val="E9E4D5"/>
                </a:solidFill>
                <a:latin typeface="Calibri" pitchFamily="34" charset="0"/>
                <a:ea typeface="Calibri" pitchFamily="34" charset="-122"/>
                <a:cs typeface="Calibri" pitchFamily="34" charset="-120"/>
              </a:rPr>
              <a:t>Commencez gratuitement à vie — 10 vérifications par mois, sans carte. Au-delà, les ACU prépayés (rechargés via mobile money, vérifiés par le moteur de KODA) couvrent le dépassement. Le tarif inclus d’un forfait bat toujours le paiement à l’usage.</a:t>
            </a:r>
            <a:endParaRPr lang="en-US" sz="1200" dirty="0"/>
          </a:p>
        </p:txBody>
      </p:sp>
      <p:sp>
        <p:nvSpPr>
          <p:cNvPr id="31" name="Text 29"/>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640080"/>
            <a:ext cx="10058400" cy="274320"/>
          </a:xfrm>
          <a:prstGeom prst="rect">
            <a:avLst/>
          </a:prstGeom>
          <a:noFill/>
          <a:ln/>
        </p:spPr>
        <p:txBody>
          <a:bodyPr wrap="square" lIns="0" tIns="0" rIns="0" bIns="0" rtlCol="0" anchor="ctr"/>
          <a:lstStyle/>
          <a:p>
            <a:pPr algn="l" indent="0" marL="0">
              <a:buNone/>
            </a:pPr>
            <a:r>
              <a:rPr lang="en-US" sz="1150" b="1" spc="250" kern="0" dirty="0">
                <a:solidFill>
                  <a:srgbClr val="E8A11F"/>
                </a:solidFill>
                <a:latin typeface="Courier New" pitchFamily="34" charset="0"/>
                <a:ea typeface="Courier New" pitchFamily="34" charset="-122"/>
                <a:cs typeface="Courier New" pitchFamily="34" charset="-120"/>
              </a:rPr>
              <a:t>COMMENCEZ DANS LES 10 PROCHAINES MINUTES</a:t>
            </a:r>
            <a:endParaRPr lang="en-US" sz="1150" dirty="0"/>
          </a:p>
        </p:txBody>
      </p:sp>
      <p:sp>
        <p:nvSpPr>
          <p:cNvPr id="3" name="Text 1"/>
          <p:cNvSpPr txBox="1"/>
          <p:nvPr/>
        </p:nvSpPr>
        <p:spPr>
          <a:xfrm>
            <a:off x="566928" y="960120"/>
            <a:ext cx="10972800" cy="640080"/>
          </a:xfrm>
          <a:prstGeom prst="rect">
            <a:avLst/>
          </a:prstGeom>
          <a:noFill/>
          <a:ln/>
        </p:spPr>
        <p:txBody>
          <a:bodyPr wrap="square" lIns="0" tIns="0" rIns="0" bIns="0" rtlCol="0" anchor="ctr"/>
          <a:lstStyle/>
          <a:p>
            <a:pPr indent="0" marL="0">
              <a:buNone/>
            </a:pPr>
            <a:r>
              <a:rPr lang="en-US" sz="3200" b="1" dirty="0">
                <a:solidFill>
                  <a:srgbClr val="E9E4D5"/>
                </a:solidFill>
                <a:latin typeface="Arial" pitchFamily="34" charset="0"/>
                <a:ea typeface="Arial" pitchFamily="34" charset="-122"/>
                <a:cs typeface="Arial" pitchFamily="34" charset="-120"/>
              </a:rPr>
              <a:t>Gratuit à vie. Sans carte. Sans contrat.</a:t>
            </a:r>
            <a:endParaRPr lang="en-US" sz="3200" dirty="0"/>
          </a:p>
        </p:txBody>
      </p:sp>
      <p:sp>
        <p:nvSpPr>
          <p:cNvPr id="4" name="Shape 2"/>
          <p:cNvSpPr/>
          <p:nvPr/>
        </p:nvSpPr>
        <p:spPr>
          <a:xfrm>
            <a:off x="566928" y="2286000"/>
            <a:ext cx="3503066" cy="2651760"/>
          </a:xfrm>
          <a:prstGeom prst="roundRect">
            <a:avLst>
              <a:gd name="adj" fmla="val 3793"/>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5" name="Shape 3"/>
          <p:cNvSpPr/>
          <p:nvPr/>
        </p:nvSpPr>
        <p:spPr>
          <a:xfrm>
            <a:off x="841248" y="2578608"/>
            <a:ext cx="658368" cy="658368"/>
          </a:xfrm>
          <a:prstGeom prst="ellipse">
            <a:avLst/>
          </a:prstGeom>
          <a:solidFill>
            <a:srgbClr val="E8A11F"/>
          </a:solidFill>
          <a:ln/>
        </p:spPr>
      </p:sp>
      <p:sp>
        <p:nvSpPr>
          <p:cNvPr id="6" name="Text 4"/>
          <p:cNvSpPr txBox="1"/>
          <p:nvPr/>
        </p:nvSpPr>
        <p:spPr>
          <a:xfrm>
            <a:off x="841248" y="2578608"/>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1</a:t>
            </a:r>
            <a:endParaRPr lang="en-US" sz="2600" dirty="0"/>
          </a:p>
        </p:txBody>
      </p:sp>
      <p:sp>
        <p:nvSpPr>
          <p:cNvPr id="7" name="Text 5"/>
          <p:cNvSpPr txBox="1"/>
          <p:nvPr/>
        </p:nvSpPr>
        <p:spPr>
          <a:xfrm>
            <a:off x="841248" y="3364992"/>
            <a:ext cx="2954426"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Créez un compte gratuit</a:t>
            </a:r>
            <a:endParaRPr lang="en-US" sz="1600" dirty="0"/>
          </a:p>
        </p:txBody>
      </p:sp>
      <p:sp>
        <p:nvSpPr>
          <p:cNvPr id="8" name="Text 6"/>
          <p:cNvSpPr txBox="1"/>
          <p:nvPr/>
        </p:nvSpPr>
        <p:spPr>
          <a:xfrm>
            <a:off x="841248" y="4041648"/>
            <a:ext cx="2954426" cy="82296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En une minute — 10 vérifications par mois, gratuites à vie.</a:t>
            </a:r>
            <a:endParaRPr lang="en-US" sz="1250" dirty="0"/>
          </a:p>
        </p:txBody>
      </p:sp>
      <p:sp>
        <p:nvSpPr>
          <p:cNvPr id="9" name="Shape 7"/>
          <p:cNvSpPr/>
          <p:nvPr/>
        </p:nvSpPr>
        <p:spPr>
          <a:xfrm>
            <a:off x="4344314" y="2286000"/>
            <a:ext cx="3503066" cy="2651760"/>
          </a:xfrm>
          <a:prstGeom prst="roundRect">
            <a:avLst>
              <a:gd name="adj" fmla="val 3793"/>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0" name="Shape 8"/>
          <p:cNvSpPr/>
          <p:nvPr/>
        </p:nvSpPr>
        <p:spPr>
          <a:xfrm>
            <a:off x="4618634" y="2578608"/>
            <a:ext cx="658368" cy="658368"/>
          </a:xfrm>
          <a:prstGeom prst="ellipse">
            <a:avLst/>
          </a:prstGeom>
          <a:solidFill>
            <a:srgbClr val="E8A11F"/>
          </a:solidFill>
          <a:ln/>
        </p:spPr>
      </p:sp>
      <p:sp>
        <p:nvSpPr>
          <p:cNvPr id="11" name="Text 9"/>
          <p:cNvSpPr txBox="1"/>
          <p:nvPr/>
        </p:nvSpPr>
        <p:spPr>
          <a:xfrm>
            <a:off x="4618634" y="2578608"/>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2</a:t>
            </a:r>
            <a:endParaRPr lang="en-US" sz="2600" dirty="0"/>
          </a:p>
        </p:txBody>
      </p:sp>
      <p:sp>
        <p:nvSpPr>
          <p:cNvPr id="12" name="Text 10"/>
          <p:cNvSpPr txBox="1"/>
          <p:nvPr/>
        </p:nvSpPr>
        <p:spPr>
          <a:xfrm>
            <a:off x="4618634" y="3364992"/>
            <a:ext cx="2954426"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Ajoutez votre numéro mobile money</a:t>
            </a:r>
            <a:endParaRPr lang="en-US" sz="1600" dirty="0"/>
          </a:p>
        </p:txBody>
      </p:sp>
      <p:sp>
        <p:nvSpPr>
          <p:cNvPr id="13" name="Text 11"/>
          <p:cNvSpPr txBox="1"/>
          <p:nvPr/>
        </p:nvSpPr>
        <p:spPr>
          <a:xfrm>
            <a:off x="4618634" y="4041648"/>
            <a:ext cx="2954426" cy="82296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Le numéro marchand sur lequel arrive déjà le SMS de confirmation.</a:t>
            </a:r>
            <a:endParaRPr lang="en-US" sz="1250" dirty="0"/>
          </a:p>
        </p:txBody>
      </p:sp>
      <p:sp>
        <p:nvSpPr>
          <p:cNvPr id="14" name="Shape 12"/>
          <p:cNvSpPr/>
          <p:nvPr/>
        </p:nvSpPr>
        <p:spPr>
          <a:xfrm>
            <a:off x="8121701" y="2286000"/>
            <a:ext cx="3503066" cy="2651760"/>
          </a:xfrm>
          <a:prstGeom prst="roundRect">
            <a:avLst>
              <a:gd name="adj" fmla="val 3793"/>
            </a:avLst>
          </a:prstGeom>
          <a:solidFill>
            <a:srgbClr val="123027"/>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5" name="Shape 13"/>
          <p:cNvSpPr/>
          <p:nvPr/>
        </p:nvSpPr>
        <p:spPr>
          <a:xfrm>
            <a:off x="8396021" y="2578608"/>
            <a:ext cx="658368" cy="658368"/>
          </a:xfrm>
          <a:prstGeom prst="ellipse">
            <a:avLst/>
          </a:prstGeom>
          <a:solidFill>
            <a:srgbClr val="E8A11F"/>
          </a:solidFill>
          <a:ln/>
        </p:spPr>
      </p:sp>
      <p:sp>
        <p:nvSpPr>
          <p:cNvPr id="16" name="Text 14"/>
          <p:cNvSpPr txBox="1"/>
          <p:nvPr/>
        </p:nvSpPr>
        <p:spPr>
          <a:xfrm>
            <a:off x="8396021" y="2578608"/>
            <a:ext cx="658368" cy="658368"/>
          </a:xfrm>
          <a:prstGeom prst="rect">
            <a:avLst/>
          </a:prstGeom>
          <a:noFill/>
          <a:ln/>
        </p:spPr>
        <p:txBody>
          <a:bodyPr wrap="square" lIns="0" tIns="0" rIns="0" bIns="0" rtlCol="0" anchor="ctr"/>
          <a:lstStyle/>
          <a:p>
            <a:pPr algn="ctr" indent="0" marL="0">
              <a:buNone/>
            </a:pPr>
            <a:r>
              <a:rPr lang="en-US" sz="2600" b="1" dirty="0">
                <a:solidFill>
                  <a:srgbClr val="081813"/>
                </a:solidFill>
                <a:latin typeface="Arial" pitchFamily="34" charset="0"/>
                <a:ea typeface="Arial" pitchFamily="34" charset="-122"/>
                <a:cs typeface="Arial" pitchFamily="34" charset="-120"/>
              </a:rPr>
              <a:t>3</a:t>
            </a:r>
            <a:endParaRPr lang="en-US" sz="2600" dirty="0"/>
          </a:p>
        </p:txBody>
      </p:sp>
      <p:sp>
        <p:nvSpPr>
          <p:cNvPr id="17" name="Text 15"/>
          <p:cNvSpPr txBox="1"/>
          <p:nvPr/>
        </p:nvSpPr>
        <p:spPr>
          <a:xfrm>
            <a:off x="8396021" y="3364992"/>
            <a:ext cx="2954426" cy="68580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Vérifiez votre premier paiement</a:t>
            </a:r>
            <a:endParaRPr lang="en-US" sz="1600" dirty="0"/>
          </a:p>
        </p:txBody>
      </p:sp>
      <p:sp>
        <p:nvSpPr>
          <p:cNvPr id="18" name="Text 16"/>
          <p:cNvSpPr txBox="1"/>
          <p:nvPr/>
        </p:nvSpPr>
        <p:spPr>
          <a:xfrm>
            <a:off x="8396021" y="4041648"/>
            <a:ext cx="2954426" cy="822960"/>
          </a:xfrm>
          <a:prstGeom prst="rect">
            <a:avLst/>
          </a:prstGeom>
          <a:noFill/>
          <a:ln/>
        </p:spPr>
        <p:txBody>
          <a:bodyPr wrap="square" lIns="0" tIns="0" rIns="0" bIns="0" rtlCol="0" anchor="ctr"/>
          <a:lstStyle/>
          <a:p>
            <a:pPr indent="0" marL="0">
              <a:lnSpc>
                <a:spcPct val="110000"/>
              </a:lnSpc>
              <a:buNone/>
            </a:pPr>
            <a:r>
              <a:rPr lang="en-US" sz="1250" dirty="0">
                <a:solidFill>
                  <a:srgbClr val="9BA79B"/>
                </a:solidFill>
                <a:latin typeface="Calibri" pitchFamily="34" charset="0"/>
                <a:ea typeface="Calibri" pitchFamily="34" charset="-122"/>
                <a:cs typeface="Calibri" pitchFamily="34" charset="-120"/>
              </a:rPr>
              <a:t>Collez le code du client — un verdict anti-fraude en trois secondes environ.</a:t>
            </a:r>
            <a:endParaRPr lang="en-US" sz="1250" dirty="0"/>
          </a:p>
        </p:txBody>
      </p:sp>
      <p:sp>
        <p:nvSpPr>
          <p:cNvPr id="19" name="Shape 17"/>
          <p:cNvSpPr/>
          <p:nvPr/>
        </p:nvSpPr>
        <p:spPr>
          <a:xfrm>
            <a:off x="566928" y="5257800"/>
            <a:ext cx="5029200" cy="566928"/>
          </a:xfrm>
          <a:prstGeom prst="roundRect">
            <a:avLst>
              <a:gd name="adj" fmla="val 50000"/>
            </a:avLst>
          </a:prstGeom>
          <a:solidFill>
            <a:srgbClr val="E8A11F"/>
          </a:solidFill>
          <a:ln/>
        </p:spPr>
      </p:sp>
      <p:sp>
        <p:nvSpPr>
          <p:cNvPr id="20" name="Text 18"/>
          <p:cNvSpPr txBox="1"/>
          <p:nvPr/>
        </p:nvSpPr>
        <p:spPr>
          <a:xfrm>
            <a:off x="566928" y="5257800"/>
            <a:ext cx="5029200" cy="566928"/>
          </a:xfrm>
          <a:prstGeom prst="rect">
            <a:avLst/>
          </a:prstGeom>
          <a:noFill/>
          <a:ln/>
        </p:spPr>
        <p:txBody>
          <a:bodyPr wrap="square" lIns="0" tIns="0" rIns="0" bIns="0" rtlCol="0" anchor="ctr"/>
          <a:lstStyle/>
          <a:p>
            <a:pPr algn="ctr" indent="0" marL="0">
              <a:buNone/>
            </a:pPr>
            <a:r>
              <a:rPr lang="en-US" sz="1450" b="1" dirty="0">
                <a:solidFill>
                  <a:srgbClr val="081813"/>
                </a:solidFill>
                <a:latin typeface="Arial" pitchFamily="34" charset="0"/>
                <a:ea typeface="Arial" pitchFamily="34" charset="-122"/>
                <a:cs typeface="Arial" pitchFamily="34" charset="-120"/>
              </a:rPr>
              <a:t>Commencer gratuitement  →  kodajnn.com/app</a:t>
            </a:r>
            <a:endParaRPr lang="en-US" sz="1450" dirty="0"/>
          </a:p>
        </p:txBody>
      </p:sp>
      <p:sp>
        <p:nvSpPr>
          <p:cNvPr id="21" name="Text 19"/>
          <p:cNvSpPr txBox="1"/>
          <p:nvPr/>
        </p:nvSpPr>
        <p:spPr>
          <a:xfrm>
            <a:off x="566928" y="6400800"/>
            <a:ext cx="11057839" cy="274320"/>
          </a:xfrm>
          <a:prstGeom prst="rect">
            <a:avLst/>
          </a:prstGeom>
          <a:noFill/>
          <a:ln/>
        </p:spPr>
        <p:txBody>
          <a:bodyPr wrap="square" lIns="0" tIns="0" rIns="0" bIns="0" rtlCol="0" anchor="ctr"/>
          <a:lstStyle/>
          <a:p>
            <a:pPr algn="l" indent="0" marL="0">
              <a:buNone/>
            </a:pPr>
            <a:r>
              <a:rPr lang="en-US" sz="950" b="1" dirty="0">
                <a:solidFill>
                  <a:srgbClr val="E8A11F"/>
                </a:solidFill>
                <a:latin typeface="Courier New" pitchFamily="34" charset="0"/>
                <a:ea typeface="Courier New" pitchFamily="34" charset="-122"/>
                <a:cs typeface="Courier New" pitchFamily="34" charset="-120"/>
              </a:rPr>
              <a:t>kodajnn.com</a:t>
            </a:r>
            <a:pPr algn="l" indent="0" marL="0">
              <a:buNone/>
            </a:pPr>
            <a:r>
              <a:rPr lang="en-US" sz="950" dirty="0">
                <a:solidFill>
                  <a:srgbClr val="9BA79B"/>
                </a:solidFill>
                <a:latin typeface="Courier New" pitchFamily="34" charset="0"/>
                <a:ea typeface="Courier New" pitchFamily="34" charset="-122"/>
                <a:cs typeface="Courier New" pitchFamily="34" charset="-120"/>
              </a:rPr>
              <a:t>   ·   Groupe Nseya Digital  ·  Kinshasa, RD Congo</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813"/>
        </a:solidFill>
      </p:bgPr>
    </p:bg>
    <p:spTree>
      <p:nvGrpSpPr>
        <p:cNvPr id="1" name=""/>
        <p:cNvGrpSpPr/>
        <p:nvPr/>
      </p:nvGrpSpPr>
      <p:grpSpPr>
        <a:xfrm>
          <a:off x="0" y="0"/>
          <a:ext cx="0" cy="0"/>
          <a:chOff x="0" y="0"/>
          <a:chExt cx="0" cy="0"/>
        </a:xfrm>
      </p:grpSpPr>
      <p:sp>
        <p:nvSpPr>
          <p:cNvPr id="2" name="Text 0"/>
          <p:cNvSpPr txBox="1"/>
          <p:nvPr/>
        </p:nvSpPr>
        <p:spPr>
          <a:xfrm>
            <a:off x="566928" y="1234440"/>
            <a:ext cx="7315200" cy="1005840"/>
          </a:xfrm>
          <a:prstGeom prst="rect">
            <a:avLst/>
          </a:prstGeom>
          <a:noFill/>
          <a:ln/>
        </p:spPr>
        <p:txBody>
          <a:bodyPr wrap="square" lIns="0" tIns="0" rIns="0" bIns="0" rtlCol="0" anchor="ctr"/>
          <a:lstStyle/>
          <a:p>
            <a:pPr indent="0" marL="0">
              <a:buNone/>
            </a:pPr>
            <a:r>
              <a:rPr lang="en-US" sz="5800" b="1" spc="500" kern="0" dirty="0">
                <a:solidFill>
                  <a:srgbClr val="E8A11F"/>
                </a:solidFill>
                <a:latin typeface="Arial" pitchFamily="34" charset="0"/>
                <a:ea typeface="Arial" pitchFamily="34" charset="-122"/>
                <a:cs typeface="Arial" pitchFamily="34" charset="-120"/>
              </a:rPr>
              <a:t>KODA</a:t>
            </a:r>
            <a:endParaRPr lang="en-US" sz="5800" dirty="0"/>
          </a:p>
        </p:txBody>
      </p:sp>
      <p:sp>
        <p:nvSpPr>
          <p:cNvPr id="3" name="Text 1"/>
          <p:cNvSpPr txBox="1"/>
          <p:nvPr/>
        </p:nvSpPr>
        <p:spPr>
          <a:xfrm>
            <a:off x="566928" y="2331720"/>
            <a:ext cx="11064240" cy="1371600"/>
          </a:xfrm>
          <a:prstGeom prst="rect">
            <a:avLst/>
          </a:prstGeom>
          <a:noFill/>
          <a:ln/>
        </p:spPr>
        <p:txBody>
          <a:bodyPr wrap="square" lIns="0" tIns="0" rIns="0" bIns="0" rtlCol="0" anchor="ctr"/>
          <a:lstStyle/>
          <a:p>
            <a:pPr indent="0" marL="0">
              <a:lnSpc>
                <a:spcPct val="98000"/>
              </a:lnSpc>
              <a:buNone/>
            </a:pPr>
            <a:r>
              <a:rPr lang="en-US" sz="3800" b="1" dirty="0">
                <a:solidFill>
                  <a:srgbClr val="E9E4D5"/>
                </a:solidFill>
                <a:latin typeface="Arial" pitchFamily="34" charset="0"/>
                <a:ea typeface="Arial" pitchFamily="34" charset="-122"/>
                <a:cs typeface="Arial" pitchFamily="34" charset="-120"/>
              </a:rPr>
              <a:t>Vérifiez votre premier paiement</a:t>
            </a:r>
            <a:endParaRPr lang="en-US" sz="3800" dirty="0"/>
          </a:p>
          <a:p>
            <a:pPr indent="0" marL="0">
              <a:lnSpc>
                <a:spcPct val="98000"/>
              </a:lnSpc>
              <a:buNone/>
            </a:pPr>
            <a:r>
              <a:rPr lang="en-US" sz="3800" b="1" dirty="0">
                <a:solidFill>
                  <a:srgbClr val="E9E4D5"/>
                </a:solidFill>
                <a:latin typeface="Arial" pitchFamily="34" charset="0"/>
                <a:ea typeface="Arial" pitchFamily="34" charset="-122"/>
                <a:cs typeface="Arial" pitchFamily="34" charset="-120"/>
              </a:rPr>
              <a:t>gratuitement — maintenant.</a:t>
            </a:r>
            <a:endParaRPr lang="en-US" sz="3800" dirty="0"/>
          </a:p>
        </p:txBody>
      </p:sp>
      <p:sp>
        <p:nvSpPr>
          <p:cNvPr id="4" name="Text 2"/>
          <p:cNvSpPr txBox="1"/>
          <p:nvPr/>
        </p:nvSpPr>
        <p:spPr>
          <a:xfrm>
            <a:off x="566928" y="3794760"/>
            <a:ext cx="11064240" cy="457200"/>
          </a:xfrm>
          <a:prstGeom prst="rect">
            <a:avLst/>
          </a:prstGeom>
          <a:noFill/>
          <a:ln/>
        </p:spPr>
        <p:txBody>
          <a:bodyPr wrap="square" lIns="0" tIns="0" rIns="0" bIns="0" rtlCol="0" anchor="ctr"/>
          <a:lstStyle/>
          <a:p>
            <a:pPr indent="0" marL="0">
              <a:buNone/>
            </a:pPr>
            <a:r>
              <a:rPr lang="en-US" sz="1650" i="1" dirty="0">
                <a:solidFill>
                  <a:srgbClr val="F2B944"/>
                </a:solidFill>
                <a:latin typeface="Calibri" pitchFamily="34" charset="0"/>
                <a:ea typeface="Calibri" pitchFamily="34" charset="-122"/>
                <a:cs typeface="Calibri" pitchFamily="34" charset="-120"/>
              </a:rPr>
              <a:t>Une capture peut être truquée. Le SMS, non.  ·  Gratuit à vie, sans carte.</a:t>
            </a:r>
            <a:endParaRPr lang="en-US" sz="1650" dirty="0"/>
          </a:p>
        </p:txBody>
      </p:sp>
      <p:sp>
        <p:nvSpPr>
          <p:cNvPr id="5" name="Shape 3"/>
          <p:cNvSpPr/>
          <p:nvPr/>
        </p:nvSpPr>
        <p:spPr>
          <a:xfrm>
            <a:off x="566928" y="4617720"/>
            <a:ext cx="3383280" cy="914400"/>
          </a:xfrm>
          <a:prstGeom prst="roundRect">
            <a:avLst>
              <a:gd name="adj" fmla="val 11000"/>
            </a:avLst>
          </a:prstGeom>
          <a:solidFill>
            <a:srgbClr val="0C231C"/>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6" name="Text 4"/>
          <p:cNvSpPr txBox="1"/>
          <p:nvPr/>
        </p:nvSpPr>
        <p:spPr>
          <a:xfrm>
            <a:off x="841248" y="4782312"/>
            <a:ext cx="2834640" cy="274320"/>
          </a:xfrm>
          <a:prstGeom prst="rect">
            <a:avLst/>
          </a:prstGeom>
          <a:noFill/>
          <a:ln/>
        </p:spPr>
        <p:txBody>
          <a:bodyPr wrap="square" lIns="0" tIns="0" rIns="0" bIns="0" rtlCol="0" anchor="ctr"/>
          <a:lstStyle/>
          <a:p>
            <a:pPr indent="0" marL="0">
              <a:buNone/>
            </a:pPr>
            <a:r>
              <a:rPr lang="en-US" sz="950" spc="200" kern="0" dirty="0">
                <a:solidFill>
                  <a:srgbClr val="9BA79B"/>
                </a:solidFill>
                <a:latin typeface="Courier New" pitchFamily="34" charset="0"/>
                <a:ea typeface="Courier New" pitchFamily="34" charset="-122"/>
                <a:cs typeface="Courier New" pitchFamily="34" charset="-120"/>
              </a:rPr>
              <a:t>SITE</a:t>
            </a:r>
            <a:endParaRPr lang="en-US" sz="950" dirty="0"/>
          </a:p>
        </p:txBody>
      </p:sp>
      <p:sp>
        <p:nvSpPr>
          <p:cNvPr id="7" name="Text 5"/>
          <p:cNvSpPr txBox="1"/>
          <p:nvPr/>
        </p:nvSpPr>
        <p:spPr>
          <a:xfrm>
            <a:off x="841248" y="5038344"/>
            <a:ext cx="2926080" cy="36576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kodajnn.com</a:t>
            </a:r>
            <a:endParaRPr lang="en-US" sz="1600" dirty="0"/>
          </a:p>
        </p:txBody>
      </p:sp>
      <p:sp>
        <p:nvSpPr>
          <p:cNvPr id="8" name="Shape 6"/>
          <p:cNvSpPr/>
          <p:nvPr/>
        </p:nvSpPr>
        <p:spPr>
          <a:xfrm>
            <a:off x="4224528" y="4617720"/>
            <a:ext cx="3383280" cy="914400"/>
          </a:xfrm>
          <a:prstGeom prst="roundRect">
            <a:avLst>
              <a:gd name="adj" fmla="val 11000"/>
            </a:avLst>
          </a:prstGeom>
          <a:solidFill>
            <a:srgbClr val="0C231C"/>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9" name="Text 7"/>
          <p:cNvSpPr txBox="1"/>
          <p:nvPr/>
        </p:nvSpPr>
        <p:spPr>
          <a:xfrm>
            <a:off x="4498848" y="4782312"/>
            <a:ext cx="2834640" cy="274320"/>
          </a:xfrm>
          <a:prstGeom prst="rect">
            <a:avLst/>
          </a:prstGeom>
          <a:noFill/>
          <a:ln/>
        </p:spPr>
        <p:txBody>
          <a:bodyPr wrap="square" lIns="0" tIns="0" rIns="0" bIns="0" rtlCol="0" anchor="ctr"/>
          <a:lstStyle/>
          <a:p>
            <a:pPr indent="0" marL="0">
              <a:buNone/>
            </a:pPr>
            <a:r>
              <a:rPr lang="en-US" sz="950" spc="200" kern="0" dirty="0">
                <a:solidFill>
                  <a:srgbClr val="9BA79B"/>
                </a:solidFill>
                <a:latin typeface="Courier New" pitchFamily="34" charset="0"/>
                <a:ea typeface="Courier New" pitchFamily="34" charset="-122"/>
                <a:cs typeface="Courier New" pitchFamily="34" charset="-120"/>
              </a:rPr>
              <a:t>WHATSAPP</a:t>
            </a:r>
            <a:endParaRPr lang="en-US" sz="950" dirty="0"/>
          </a:p>
        </p:txBody>
      </p:sp>
      <p:sp>
        <p:nvSpPr>
          <p:cNvPr id="10" name="Text 8"/>
          <p:cNvSpPr txBox="1"/>
          <p:nvPr/>
        </p:nvSpPr>
        <p:spPr>
          <a:xfrm>
            <a:off x="4498848" y="5038344"/>
            <a:ext cx="2926080" cy="36576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+243 828 139 153</a:t>
            </a:r>
            <a:endParaRPr lang="en-US" sz="1600" dirty="0"/>
          </a:p>
        </p:txBody>
      </p:sp>
      <p:sp>
        <p:nvSpPr>
          <p:cNvPr id="11" name="Shape 9"/>
          <p:cNvSpPr/>
          <p:nvPr/>
        </p:nvSpPr>
        <p:spPr>
          <a:xfrm>
            <a:off x="7882128" y="4617720"/>
            <a:ext cx="3383280" cy="914400"/>
          </a:xfrm>
          <a:prstGeom prst="roundRect">
            <a:avLst>
              <a:gd name="adj" fmla="val 11000"/>
            </a:avLst>
          </a:prstGeom>
          <a:solidFill>
            <a:srgbClr val="0C231C"/>
          </a:solidFill>
          <a:ln w="12700">
            <a:solidFill>
              <a:srgbClr val="2A4034"/>
            </a:solidFill>
            <a:prstDash val="solid"/>
          </a:ln>
          <a:effectLst>
            <a:outerShdw sx="100000" sy="100000" kx="0" ky="0" algn="bl" rotWithShape="0" blurRad="127000" dist="50800" dir="5400000">
              <a:srgbClr val="000000">
                <a:alpha val="35000"/>
              </a:srgbClr>
            </a:outerShdw>
          </a:effectLst>
        </p:spPr>
      </p:sp>
      <p:sp>
        <p:nvSpPr>
          <p:cNvPr id="12" name="Text 10"/>
          <p:cNvSpPr txBox="1"/>
          <p:nvPr/>
        </p:nvSpPr>
        <p:spPr>
          <a:xfrm>
            <a:off x="8156448" y="4782312"/>
            <a:ext cx="2834640" cy="274320"/>
          </a:xfrm>
          <a:prstGeom prst="rect">
            <a:avLst/>
          </a:prstGeom>
          <a:noFill/>
          <a:ln/>
        </p:spPr>
        <p:txBody>
          <a:bodyPr wrap="square" lIns="0" tIns="0" rIns="0" bIns="0" rtlCol="0" anchor="ctr"/>
          <a:lstStyle/>
          <a:p>
            <a:pPr indent="0" marL="0">
              <a:buNone/>
            </a:pPr>
            <a:r>
              <a:rPr lang="en-US" sz="950" spc="200" kern="0" dirty="0">
                <a:solidFill>
                  <a:srgbClr val="9BA79B"/>
                </a:solidFill>
                <a:latin typeface="Courier New" pitchFamily="34" charset="0"/>
                <a:ea typeface="Courier New" pitchFamily="34" charset="-122"/>
                <a:cs typeface="Courier New" pitchFamily="34" charset="-120"/>
              </a:rPr>
              <a:t>E-MAIL</a:t>
            </a:r>
            <a:endParaRPr lang="en-US" sz="950" dirty="0"/>
          </a:p>
        </p:txBody>
      </p:sp>
      <p:sp>
        <p:nvSpPr>
          <p:cNvPr id="13" name="Text 11"/>
          <p:cNvSpPr txBox="1"/>
          <p:nvPr/>
        </p:nvSpPr>
        <p:spPr>
          <a:xfrm>
            <a:off x="8156448" y="5038344"/>
            <a:ext cx="2926080" cy="365760"/>
          </a:xfrm>
          <a:prstGeom prst="rect">
            <a:avLst/>
          </a:prstGeom>
          <a:noFill/>
          <a:ln/>
        </p:spPr>
        <p:txBody>
          <a:bodyPr wrap="square" lIns="0" tIns="0" rIns="0" bIns="0" rtlCol="0" anchor="ctr"/>
          <a:lstStyle/>
          <a:p>
            <a:pPr indent="0" marL="0">
              <a:buNone/>
            </a:pPr>
            <a:r>
              <a:rPr lang="en-US" sz="1600" b="1" dirty="0">
                <a:solidFill>
                  <a:srgbClr val="F2B944"/>
                </a:solidFill>
                <a:latin typeface="Arial" pitchFamily="34" charset="0"/>
                <a:ea typeface="Arial" pitchFamily="34" charset="-122"/>
                <a:cs typeface="Arial" pitchFamily="34" charset="-120"/>
              </a:rPr>
              <a:t>koda@kodajnn.com</a:t>
            </a:r>
            <a:endParaRPr lang="en-US" sz="1600" dirty="0"/>
          </a:p>
        </p:txBody>
      </p:sp>
      <p:sp>
        <p:nvSpPr>
          <p:cNvPr id="14" name="Text 12"/>
          <p:cNvSpPr txBox="1"/>
          <p:nvPr/>
        </p:nvSpPr>
        <p:spPr>
          <a:xfrm>
            <a:off x="566928" y="6419088"/>
            <a:ext cx="11057839" cy="274320"/>
          </a:xfrm>
          <a:prstGeom prst="rect">
            <a:avLst/>
          </a:prstGeom>
          <a:noFill/>
          <a:ln/>
        </p:spPr>
        <p:txBody>
          <a:bodyPr wrap="square" lIns="0" tIns="0" rIns="0" bIns="0" rtlCol="0" anchor="ctr"/>
          <a:lstStyle/>
          <a:p>
            <a:pPr indent="0" marL="0">
              <a:buNone/>
            </a:pPr>
            <a:r>
              <a:rPr lang="en-US" sz="850" dirty="0">
                <a:solidFill>
                  <a:srgbClr val="9BA79B"/>
                </a:solidFill>
                <a:latin typeface="Courier New" pitchFamily="34" charset="0"/>
                <a:ea typeface="Courier New" pitchFamily="34" charset="-122"/>
                <a:cs typeface="Courier New" pitchFamily="34" charset="-120"/>
              </a:rPr>
              <a:t>KODA — un service de vérification des paiements ; il ne détient, ne déplace ni ne règle jamais de fonds. Groupe Nseya Digital / JNN Global Ltd · Kinshasa, RD Congo.</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2026-10-16T11:18:25Z</dcterms:created>
  <dcterms:modified xsi:type="dcterms:W3CDTF">2026-10-16T11:18:25Z</dcterms:modified>
</cp:coreProperties>
</file>